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  <p:sldId id="267" r:id="rId9"/>
    <p:sldId id="268" r:id="rId10"/>
    <p:sldId id="264" r:id="rId11"/>
    <p:sldId id="263" r:id="rId12"/>
    <p:sldId id="269" r:id="rId13"/>
    <p:sldId id="270" r:id="rId14"/>
    <p:sldId id="271" r:id="rId15"/>
    <p:sldId id="272" r:id="rId16"/>
    <p:sldId id="266" r:id="rId17"/>
  </p:sldIdLst>
  <p:sldSz cx="18288000" cy="10287000"/>
  <p:notesSz cx="6858000" cy="9144000"/>
  <p:embeddedFontLst>
    <p:embeddedFont>
      <p:font typeface="Arial Black" panose="020B0A04020102020204" pitchFamily="34" charset="0"/>
      <p:bold r:id="rId18"/>
    </p:embeddedFont>
    <p:embeddedFont>
      <p:font typeface="Bookman Old Style" panose="02050604050505020204" pitchFamily="18" charset="0"/>
      <p:regular r:id="rId19"/>
      <p:bold r:id="rId20"/>
      <p:italic r:id="rId21"/>
      <p:boldItalic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Cambria Math" panose="02040503050406030204" pitchFamily="18" charset="0"/>
      <p:regular r:id="rId27"/>
    </p:embeddedFont>
    <p:embeddedFont>
      <p:font typeface="DM Serif Display" pitchFamily="2" charset="0"/>
      <p:regular r:id="rId28"/>
      <p:italic r:id="rId29"/>
    </p:embeddedFont>
    <p:embeddedFont>
      <p:font typeface="Georgia" panose="02040502050405020303" pitchFamily="18" charset="0"/>
      <p:regular r:id="rId30"/>
      <p:bold r:id="rId31"/>
      <p:italic r:id="rId32"/>
      <p:boldItalic r:id="rId33"/>
    </p:embeddedFont>
    <p:embeddedFont>
      <p:font typeface="Public Sans" panose="020B0604020202020204" charset="0"/>
      <p:regular r:id="rId34"/>
    </p:embeddedFont>
    <p:embeddedFont>
      <p:font typeface="Public Sans Medium" panose="020B0604020202020204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0EC"/>
    <a:srgbClr val="3A85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57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>
            <a:extLst>
              <a:ext uri="{FF2B5EF4-FFF2-40B4-BE49-F238E27FC236}">
                <a16:creationId xmlns:a16="http://schemas.microsoft.com/office/drawing/2014/main" id="{424657D1-B427-B1C1-E3FC-8E2AEC16E546}"/>
              </a:ext>
            </a:extLst>
          </p:cNvPr>
          <p:cNvGrpSpPr/>
          <p:nvPr/>
        </p:nvGrpSpPr>
        <p:grpSpPr>
          <a:xfrm>
            <a:off x="-1733924" y="6971250"/>
            <a:ext cx="21755848" cy="4174349"/>
            <a:chOff x="0" y="0"/>
            <a:chExt cx="7796805" cy="1495993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C4D0FDE2-2702-E4DC-A23B-BD5760BF92A6}"/>
                </a:ext>
              </a:extLst>
            </p:cNvPr>
            <p:cNvSpPr/>
            <p:nvPr/>
          </p:nvSpPr>
          <p:spPr>
            <a:xfrm>
              <a:off x="0" y="0"/>
              <a:ext cx="7796805" cy="1495993"/>
            </a:xfrm>
            <a:custGeom>
              <a:avLst/>
              <a:gdLst/>
              <a:ahLst/>
              <a:cxnLst/>
              <a:rect l="l" t="t" r="r" b="b"/>
              <a:pathLst>
                <a:path w="7796805" h="1495993">
                  <a:moveTo>
                    <a:pt x="0" y="0"/>
                  </a:moveTo>
                  <a:lnTo>
                    <a:pt x="7796805" y="0"/>
                  </a:lnTo>
                  <a:lnTo>
                    <a:pt x="7796805" y="1495993"/>
                  </a:lnTo>
                  <a:lnTo>
                    <a:pt x="0" y="1495993"/>
                  </a:ln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A1A6CD50-7CF4-CAEE-A53E-C97D2ECDE3A9}"/>
                </a:ext>
              </a:extLst>
            </p:cNvPr>
            <p:cNvSpPr txBox="1"/>
            <p:nvPr/>
          </p:nvSpPr>
          <p:spPr>
            <a:xfrm>
              <a:off x="0" y="-28575"/>
              <a:ext cx="7796805" cy="1524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5">
            <a:extLst>
              <a:ext uri="{FF2B5EF4-FFF2-40B4-BE49-F238E27FC236}">
                <a16:creationId xmlns:a16="http://schemas.microsoft.com/office/drawing/2014/main" id="{0E9A7FD4-D89F-4DDF-3245-05F4B91E00CD}"/>
              </a:ext>
            </a:extLst>
          </p:cNvPr>
          <p:cNvSpPr/>
          <p:nvPr/>
        </p:nvSpPr>
        <p:spPr>
          <a:xfrm>
            <a:off x="-908246" y="5143500"/>
            <a:ext cx="20104489" cy="5523017"/>
          </a:xfrm>
          <a:custGeom>
            <a:avLst/>
            <a:gdLst/>
            <a:ahLst/>
            <a:cxnLst/>
            <a:rect l="l" t="t" r="r" b="b"/>
            <a:pathLst>
              <a:path w="20104489" h="5523017">
                <a:moveTo>
                  <a:pt x="0" y="0"/>
                </a:moveTo>
                <a:lnTo>
                  <a:pt x="20104490" y="0"/>
                </a:lnTo>
                <a:lnTo>
                  <a:pt x="20104490" y="5523017"/>
                </a:lnTo>
                <a:lnTo>
                  <a:pt x="0" y="55230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4363" r="-9035" b="-20568"/>
            </a:stretch>
          </a:blipFill>
        </p:spPr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F592E072-0EC1-07A9-9D13-A29BA93D2612}"/>
              </a:ext>
            </a:extLst>
          </p:cNvPr>
          <p:cNvSpPr txBox="1"/>
          <p:nvPr/>
        </p:nvSpPr>
        <p:spPr>
          <a:xfrm>
            <a:off x="3186598" y="571500"/>
            <a:ext cx="14736028" cy="1942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400" dirty="0">
                <a:solidFill>
                  <a:srgbClr val="3A855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MAHARAJA SAYAJIRAO UNIVERSITY OF BARODA</a:t>
            </a:r>
          </a:p>
          <a:p>
            <a:pPr algn="ctr">
              <a:lnSpc>
                <a:spcPct val="150000"/>
              </a:lnSpc>
            </a:pPr>
            <a:r>
              <a:rPr lang="en-US" sz="4400" dirty="0">
                <a:solidFill>
                  <a:srgbClr val="3A855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ESTD. 1949 Accredited A+ Grade by NAAC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974D55A4-36F4-5C75-CAA2-7B433D82BCC9}"/>
              </a:ext>
            </a:extLst>
          </p:cNvPr>
          <p:cNvSpPr txBox="1"/>
          <p:nvPr/>
        </p:nvSpPr>
        <p:spPr>
          <a:xfrm>
            <a:off x="2300829" y="3735486"/>
            <a:ext cx="13120627" cy="2491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3706" spc="-303" dirty="0">
                <a:solidFill>
                  <a:srgbClr val="3A855D"/>
                </a:solidFill>
                <a:latin typeface="Bookman Old Style" panose="02050604050505020204" pitchFamily="18" charset="0"/>
                <a:ea typeface="Cambria Math" panose="02040503050406030204" pitchFamily="18" charset="0"/>
                <a:cs typeface="Public Sans"/>
                <a:sym typeface="Public Sans"/>
              </a:rPr>
              <a:t>When Randomness Becomes a Model:</a:t>
            </a: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3706" spc="-303" dirty="0">
                <a:solidFill>
                  <a:srgbClr val="3A855D"/>
                </a:solidFill>
                <a:latin typeface="Bookman Old Style" panose="02050604050505020204" pitchFamily="18" charset="0"/>
                <a:ea typeface="Cambria Math" panose="02040503050406030204" pitchFamily="18" charset="0"/>
                <a:cs typeface="Public Sans"/>
                <a:sym typeface="Public Sans"/>
              </a:rPr>
              <a:t>The Statistical Foundation of the Black-Scholes Model</a:t>
            </a:r>
          </a:p>
          <a:p>
            <a:pPr marL="0" lvl="0" indent="0" algn="r">
              <a:lnSpc>
                <a:spcPct val="150000"/>
              </a:lnSpc>
              <a:spcBef>
                <a:spcPct val="0"/>
              </a:spcBef>
            </a:pPr>
            <a:r>
              <a:rPr lang="en-US" sz="3706" spc="-303" dirty="0">
                <a:solidFill>
                  <a:srgbClr val="3A855D"/>
                </a:solidFill>
                <a:latin typeface="Bookman Old Style" panose="02050604050505020204" pitchFamily="18" charset="0"/>
                <a:ea typeface="Cambria Math" panose="02040503050406030204" pitchFamily="18" charset="0"/>
                <a:cs typeface="Public Sans"/>
                <a:sym typeface="Public Sans"/>
              </a:rPr>
              <a:t>-Tanya Chaurasia</a:t>
            </a:r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41955DB5-8BD7-D523-9470-6F4C4C0287CA}"/>
              </a:ext>
            </a:extLst>
          </p:cNvPr>
          <p:cNvSpPr/>
          <p:nvPr/>
        </p:nvSpPr>
        <p:spPr>
          <a:xfrm>
            <a:off x="16523506" y="4109793"/>
            <a:ext cx="1703043" cy="2771224"/>
          </a:xfrm>
          <a:custGeom>
            <a:avLst/>
            <a:gdLst/>
            <a:ahLst/>
            <a:cxnLst/>
            <a:rect l="l" t="t" r="r" b="b"/>
            <a:pathLst>
              <a:path w="1703043" h="2771224">
                <a:moveTo>
                  <a:pt x="0" y="0"/>
                </a:moveTo>
                <a:lnTo>
                  <a:pt x="1703043" y="0"/>
                </a:lnTo>
                <a:lnTo>
                  <a:pt x="1703043" y="2771224"/>
                </a:lnTo>
                <a:lnTo>
                  <a:pt x="0" y="2771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C4D18A54-503B-34CB-5BB7-47CF383D34A8}"/>
              </a:ext>
            </a:extLst>
          </p:cNvPr>
          <p:cNvGrpSpPr/>
          <p:nvPr/>
        </p:nvGrpSpPr>
        <p:grpSpPr>
          <a:xfrm>
            <a:off x="1143000" y="384061"/>
            <a:ext cx="2286476" cy="2317718"/>
            <a:chOff x="0" y="0"/>
            <a:chExt cx="3048635" cy="3090291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49C17C2D-B34B-0B7F-9497-39E8918C42DD}"/>
                </a:ext>
              </a:extLst>
            </p:cNvPr>
            <p:cNvSpPr/>
            <p:nvPr/>
          </p:nvSpPr>
          <p:spPr>
            <a:xfrm>
              <a:off x="0" y="0"/>
              <a:ext cx="3048635" cy="3090291"/>
            </a:xfrm>
            <a:custGeom>
              <a:avLst/>
              <a:gdLst/>
              <a:ahLst/>
              <a:cxnLst/>
              <a:rect l="l" t="t" r="r" b="b"/>
              <a:pathLst>
                <a:path w="3048635" h="3090291">
                  <a:moveTo>
                    <a:pt x="0" y="0"/>
                  </a:moveTo>
                  <a:lnTo>
                    <a:pt x="3048635" y="0"/>
                  </a:lnTo>
                  <a:lnTo>
                    <a:pt x="3048635" y="3090291"/>
                  </a:lnTo>
                  <a:lnTo>
                    <a:pt x="0" y="3090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05" r="-505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46196" y="1351924"/>
            <a:ext cx="14395608" cy="7583153"/>
            <a:chOff x="0" y="0"/>
            <a:chExt cx="3791436" cy="19972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91436" cy="1997209"/>
            </a:xfrm>
            <a:custGeom>
              <a:avLst/>
              <a:gdLst/>
              <a:ahLst/>
              <a:cxnLst/>
              <a:rect l="l" t="t" r="r" b="b"/>
              <a:pathLst>
                <a:path w="3791436" h="1997209">
                  <a:moveTo>
                    <a:pt x="8067" y="0"/>
                  </a:moveTo>
                  <a:lnTo>
                    <a:pt x="3783369" y="0"/>
                  </a:lnTo>
                  <a:cubicBezTo>
                    <a:pt x="3785508" y="0"/>
                    <a:pt x="3787560" y="850"/>
                    <a:pt x="3789073" y="2363"/>
                  </a:cubicBezTo>
                  <a:cubicBezTo>
                    <a:pt x="3790586" y="3876"/>
                    <a:pt x="3791436" y="5927"/>
                    <a:pt x="3791436" y="8067"/>
                  </a:cubicBezTo>
                  <a:lnTo>
                    <a:pt x="3791436" y="1989142"/>
                  </a:lnTo>
                  <a:cubicBezTo>
                    <a:pt x="3791436" y="1991281"/>
                    <a:pt x="3790586" y="1993333"/>
                    <a:pt x="3789073" y="1994846"/>
                  </a:cubicBezTo>
                  <a:cubicBezTo>
                    <a:pt x="3787560" y="1996359"/>
                    <a:pt x="3785508" y="1997209"/>
                    <a:pt x="3783369" y="1997209"/>
                  </a:cubicBezTo>
                  <a:lnTo>
                    <a:pt x="8067" y="1997209"/>
                  </a:lnTo>
                  <a:cubicBezTo>
                    <a:pt x="5927" y="1997209"/>
                    <a:pt x="3876" y="1996359"/>
                    <a:pt x="2363" y="1994846"/>
                  </a:cubicBezTo>
                  <a:cubicBezTo>
                    <a:pt x="850" y="1993333"/>
                    <a:pt x="0" y="1991281"/>
                    <a:pt x="0" y="1989142"/>
                  </a:cubicBezTo>
                  <a:lnTo>
                    <a:pt x="0" y="8067"/>
                  </a:lnTo>
                  <a:cubicBezTo>
                    <a:pt x="0" y="5927"/>
                    <a:pt x="850" y="3876"/>
                    <a:pt x="2363" y="2363"/>
                  </a:cubicBezTo>
                  <a:cubicBezTo>
                    <a:pt x="3876" y="850"/>
                    <a:pt x="5927" y="0"/>
                    <a:pt x="8067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85725"/>
              <a:ext cx="3791436" cy="1911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550747" y="2533277"/>
            <a:ext cx="10627176" cy="2738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spc="-360" dirty="0">
                <a:solidFill>
                  <a:srgbClr val="F1F0EC"/>
                </a:solidFill>
                <a:latin typeface="Georgia" panose="02040502050405020303" pitchFamily="18" charset="0"/>
                <a:ea typeface="Public Sans"/>
                <a:cs typeface="Public Sans"/>
                <a:sym typeface="Public Sans"/>
              </a:rPr>
              <a:t>A Question From 1900</a:t>
            </a:r>
          </a:p>
          <a:p>
            <a:pPr>
              <a:lnSpc>
                <a:spcPts val="5280"/>
              </a:lnSpc>
            </a:pPr>
            <a:endParaRPr lang="en-US" sz="4400" b="1" spc="-360" dirty="0">
              <a:solidFill>
                <a:srgbClr val="F1F0EC"/>
              </a:solidFill>
              <a:latin typeface="Georgia" panose="02040502050405020303" pitchFamily="18" charset="0"/>
              <a:ea typeface="Public Sans"/>
              <a:cs typeface="Public Sans"/>
              <a:sym typeface="Public Sans"/>
            </a:endParaRPr>
          </a:p>
          <a:p>
            <a:pPr algn="r"/>
            <a:r>
              <a:rPr lang="en-US" sz="2400" b="1" i="1" spc="119" dirty="0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“If something moves up and down for reasons nobody can predict, is there a mathematical rule for how it moves?” </a:t>
            </a:r>
          </a:p>
          <a:p>
            <a:pPr>
              <a:lnSpc>
                <a:spcPts val="5280"/>
              </a:lnSpc>
            </a:pPr>
            <a:endParaRPr lang="en-US" sz="4400" b="1" spc="-360" dirty="0">
              <a:solidFill>
                <a:srgbClr val="F1F0EC"/>
              </a:solidFill>
              <a:latin typeface="Georgia" panose="02040502050405020303" pitchFamily="18" charset="0"/>
              <a:ea typeface="Public Sans"/>
              <a:cs typeface="Public Sans"/>
              <a:sym typeface="Public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667000" y="5079629"/>
            <a:ext cx="13258799" cy="24237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699"/>
              </a:lnSpc>
              <a:spcBef>
                <a:spcPct val="0"/>
              </a:spcBef>
            </a:pPr>
            <a:r>
              <a:rPr lang="en-US" sz="2400" b="1" u="none" spc="119" dirty="0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The question Louis Bachelier asked in his 1900 thesis, </a:t>
            </a:r>
            <a:r>
              <a:rPr lang="en-US" sz="2400" b="1" u="none" spc="119" dirty="0" err="1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Théorie</a:t>
            </a:r>
            <a:r>
              <a:rPr lang="en-US" sz="2400" b="1" u="none" spc="119" dirty="0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de la </a:t>
            </a:r>
            <a:r>
              <a:rPr lang="en-US" sz="2400" b="1" u="none" spc="119" dirty="0" err="1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Spéculation</a:t>
            </a:r>
            <a:r>
              <a:rPr lang="en-US" sz="2400" b="1" u="none" spc="119" dirty="0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, modelling change as Normal with spread growing in time.</a:t>
            </a:r>
          </a:p>
          <a:p>
            <a:pPr marL="0" lvl="0" indent="0" algn="ctr">
              <a:lnSpc>
                <a:spcPts val="2699"/>
              </a:lnSpc>
              <a:spcBef>
                <a:spcPct val="0"/>
              </a:spcBef>
            </a:pPr>
            <a:endParaRPr lang="en-US" sz="2400" b="1" u="none" spc="119" dirty="0">
              <a:solidFill>
                <a:srgbClr val="F1F0EC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marL="0" lvl="0" indent="0" algn="ctr">
              <a:lnSpc>
                <a:spcPts val="2699"/>
              </a:lnSpc>
              <a:spcBef>
                <a:spcPct val="0"/>
              </a:spcBef>
            </a:pPr>
            <a:r>
              <a:rPr lang="en-US" sz="2400" b="1" u="none" spc="119" dirty="0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Rediscovered decades later, opening the field of continuous-time randomness. Today's path: probability, then a differential equation, then an exact formula — whose use in option pricing is the most famous application of the idea, not the idea itself.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12AA19-40C8-2BC3-65A1-7BC26B3FD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9361" y="1682381"/>
            <a:ext cx="19050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78324" y="2535995"/>
            <a:ext cx="5754494" cy="5215010"/>
          </a:xfrm>
          <a:custGeom>
            <a:avLst/>
            <a:gdLst/>
            <a:ahLst/>
            <a:cxnLst/>
            <a:rect l="l" t="t" r="r" b="b"/>
            <a:pathLst>
              <a:path w="5754494" h="5215010">
                <a:moveTo>
                  <a:pt x="0" y="0"/>
                </a:moveTo>
                <a:lnTo>
                  <a:pt x="5754494" y="0"/>
                </a:lnTo>
                <a:lnTo>
                  <a:pt x="5754494" y="5215010"/>
                </a:lnTo>
                <a:lnTo>
                  <a:pt x="0" y="5215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12622" y="767849"/>
            <a:ext cx="7519837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400" b="1" spc="-327" dirty="0">
                <a:solidFill>
                  <a:srgbClr val="3A855D"/>
                </a:solidFill>
                <a:latin typeface="Cambria" panose="02040503050406030204" pitchFamily="18" charset="0"/>
                <a:ea typeface="Cambria" panose="02040503050406030204" pitchFamily="18" charset="0"/>
                <a:cs typeface="Public Sans"/>
                <a:sym typeface="Public Sans"/>
              </a:rPr>
              <a:t>Writing Down How X Changes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22540" y="5143500"/>
            <a:ext cx="8970616" cy="2205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699"/>
              </a:lnSpc>
              <a:spcBef>
                <a:spcPct val="0"/>
              </a:spcBef>
            </a:pPr>
            <a:endParaRPr lang="en-US" sz="2800" b="1" u="none" spc="119" dirty="0">
              <a:solidFill>
                <a:srgbClr val="3A855D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800" b="1" spc="119" dirty="0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w</a:t>
            </a:r>
            <a:r>
              <a:rPr lang="en-US" sz="2800" b="1" u="none" spc="119" dirty="0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here,</a:t>
            </a: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800" b="1" u="none" spc="119" dirty="0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μ (drift) is the average growth rate</a:t>
            </a:r>
            <a:endParaRPr lang="en-US" sz="2800" b="1" spc="119" dirty="0">
              <a:solidFill>
                <a:srgbClr val="3A855D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800" b="1" u="none" spc="119" dirty="0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σ (volatility) sets the size of the random swings</a:t>
            </a:r>
            <a:endParaRPr lang="en-US" sz="2800" b="1" spc="119" dirty="0">
              <a:solidFill>
                <a:srgbClr val="3A855D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6002417" y="-828898"/>
            <a:ext cx="1703043" cy="2771224"/>
          </a:xfrm>
          <a:custGeom>
            <a:avLst/>
            <a:gdLst/>
            <a:ahLst/>
            <a:cxnLst/>
            <a:rect l="l" t="t" r="r" b="b"/>
            <a:pathLst>
              <a:path w="1703043" h="2771224">
                <a:moveTo>
                  <a:pt x="0" y="0"/>
                </a:moveTo>
                <a:lnTo>
                  <a:pt x="1703043" y="0"/>
                </a:lnTo>
                <a:lnTo>
                  <a:pt x="1703043" y="2771225"/>
                </a:lnTo>
                <a:lnTo>
                  <a:pt x="0" y="27712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6412948">
            <a:off x="7068085" y="9022289"/>
            <a:ext cx="3383874" cy="2848607"/>
          </a:xfrm>
          <a:custGeom>
            <a:avLst/>
            <a:gdLst/>
            <a:ahLst/>
            <a:cxnLst/>
            <a:rect l="l" t="t" r="r" b="b"/>
            <a:pathLst>
              <a:path w="3383874" h="2848607">
                <a:moveTo>
                  <a:pt x="0" y="0"/>
                </a:moveTo>
                <a:lnTo>
                  <a:pt x="3383875" y="0"/>
                </a:lnTo>
                <a:lnTo>
                  <a:pt x="3383875" y="2848607"/>
                </a:lnTo>
                <a:lnTo>
                  <a:pt x="0" y="28486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7" name="Picture 6" descr="s4_extr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2540" y="2451436"/>
            <a:ext cx="7209919" cy="30730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CB8004-6D94-5335-7EE9-72C9868165B2}"/>
              </a:ext>
            </a:extLst>
          </p:cNvPr>
          <p:cNvSpPr txBox="1"/>
          <p:nvPr/>
        </p:nvSpPr>
        <p:spPr>
          <a:xfrm>
            <a:off x="1147606" y="1752734"/>
            <a:ext cx="1385828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spc="119" dirty="0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Let X be a positive quantity that moves randomly over a small time step </a:t>
            </a:r>
            <a:r>
              <a:rPr lang="en-US" sz="2800" b="1" spc="119" dirty="0" err="1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Δt</a:t>
            </a:r>
            <a:r>
              <a:rPr lang="en-US" sz="2800" b="1" spc="119" dirty="0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:</a:t>
            </a:r>
          </a:p>
          <a:p>
            <a:endParaRPr lang="en-IN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1E3BE5-CA80-DD4C-C70E-9EC8A8DA9382}"/>
              </a:ext>
            </a:extLst>
          </p:cNvPr>
          <p:cNvSpPr txBox="1"/>
          <p:nvPr/>
        </p:nvSpPr>
        <p:spPr>
          <a:xfrm>
            <a:off x="1212622" y="8022984"/>
            <a:ext cx="123891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spc="119" dirty="0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NOTE: Using √</a:t>
            </a:r>
            <a:r>
              <a:rPr lang="en-US" sz="2400" b="1" spc="119" dirty="0" err="1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Δt</a:t>
            </a:r>
            <a:r>
              <a:rPr lang="en-US" sz="2400" b="1" spc="119" dirty="0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rather than </a:t>
            </a:r>
            <a:r>
              <a:rPr lang="en-US" sz="2400" b="1" spc="119" dirty="0" err="1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Δt</a:t>
            </a:r>
            <a:r>
              <a:rPr lang="en-US" sz="2400" b="1" spc="119" dirty="0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keeps variance growing in proportion to time.</a:t>
            </a:r>
          </a:p>
          <a:p>
            <a:endParaRPr lang="en-I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04717" y="-1714500"/>
            <a:ext cx="7683283" cy="9265329"/>
          </a:xfrm>
          <a:custGeom>
            <a:avLst/>
            <a:gdLst/>
            <a:ahLst/>
            <a:cxnLst/>
            <a:rect l="l" t="t" r="r" b="b"/>
            <a:pathLst>
              <a:path w="8377052" h="11928208">
                <a:moveTo>
                  <a:pt x="0" y="0"/>
                </a:moveTo>
                <a:lnTo>
                  <a:pt x="8377052" y="0"/>
                </a:lnTo>
                <a:lnTo>
                  <a:pt x="8377052" y="11928208"/>
                </a:lnTo>
                <a:lnTo>
                  <a:pt x="0" y="119282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82758" y="1129869"/>
            <a:ext cx="8261242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4400" b="1" spc="-311" dirty="0">
                <a:solidFill>
                  <a:srgbClr val="3A855D"/>
                </a:solidFill>
                <a:latin typeface="Cambria" panose="02040503050406030204" pitchFamily="18" charset="0"/>
                <a:ea typeface="Cambria" panose="02040503050406030204" pitchFamily="18" charset="0"/>
                <a:cs typeface="Public Sans"/>
                <a:sym typeface="Public Sans"/>
              </a:rPr>
              <a:t>Brownian Motion, GBM &amp; a New Rule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53460" y="3257111"/>
            <a:ext cx="7519837" cy="3439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3A855D"/>
                </a:solidFill>
                <a:latin typeface="Public Sans Medium" panose="020B0604020202020204" charset="0"/>
              </a:rPr>
              <a:t>Properties: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solidFill>
                  <a:srgbClr val="3A855D"/>
                </a:solidFill>
                <a:latin typeface="Public Sans Medium" panose="020B0604020202020204" charset="0"/>
              </a:rPr>
              <a:t>Starts at zero: W(0)=0 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solidFill>
                  <a:srgbClr val="3A855D"/>
                </a:solidFill>
                <a:latin typeface="Public Sans Medium" panose="020B0604020202020204" charset="0"/>
              </a:rPr>
              <a:t>Independent increments 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solidFill>
                  <a:srgbClr val="3A855D"/>
                </a:solidFill>
                <a:latin typeface="Public Sans Medium" panose="020B0604020202020204" charset="0"/>
              </a:rPr>
              <a:t>Normally distributed increments: W(t)−W(s)∼N(0,t−s)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solidFill>
                  <a:srgbClr val="3A855D"/>
                </a:solidFill>
                <a:latin typeface="Public Sans Medium" panose="020B0604020202020204" charset="0"/>
              </a:rPr>
              <a:t>Continuous but nowhere differentiable paths </a:t>
            </a:r>
          </a:p>
          <a:p>
            <a:pPr marL="0" lvl="0" indent="0" algn="l">
              <a:lnSpc>
                <a:spcPts val="2699"/>
              </a:lnSpc>
              <a:spcBef>
                <a:spcPct val="0"/>
              </a:spcBef>
            </a:pPr>
            <a:endParaRPr lang="en-US" sz="2400" b="1" u="none" spc="119" dirty="0">
              <a:solidFill>
                <a:srgbClr val="3A855D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marL="0" lvl="0" indent="0" algn="l">
              <a:lnSpc>
                <a:spcPts val="2699"/>
              </a:lnSpc>
              <a:spcBef>
                <a:spcPct val="0"/>
              </a:spcBef>
            </a:pPr>
            <a:endParaRPr lang="en-US" sz="2400" b="1" u="none" spc="119" dirty="0">
              <a:solidFill>
                <a:srgbClr val="3A855D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marL="0" lvl="0" indent="0" algn="l">
              <a:lnSpc>
                <a:spcPts val="2699"/>
              </a:lnSpc>
              <a:spcBef>
                <a:spcPct val="0"/>
              </a:spcBef>
            </a:pPr>
            <a:endParaRPr lang="en-US" sz="2400" b="1" u="none" spc="119" dirty="0">
              <a:solidFill>
                <a:srgbClr val="3A855D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0447630" y="-858580"/>
            <a:ext cx="314174" cy="12004159"/>
            <a:chOff x="0" y="0"/>
            <a:chExt cx="87993" cy="33620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7993" cy="3362084"/>
            </a:xfrm>
            <a:custGeom>
              <a:avLst/>
              <a:gdLst/>
              <a:ahLst/>
              <a:cxnLst/>
              <a:rect l="l" t="t" r="r" b="b"/>
              <a:pathLst>
                <a:path w="87993" h="3362084">
                  <a:moveTo>
                    <a:pt x="43996" y="0"/>
                  </a:moveTo>
                  <a:lnTo>
                    <a:pt x="43996" y="0"/>
                  </a:lnTo>
                  <a:cubicBezTo>
                    <a:pt x="68295" y="0"/>
                    <a:pt x="87993" y="19698"/>
                    <a:pt x="87993" y="43996"/>
                  </a:cubicBezTo>
                  <a:lnTo>
                    <a:pt x="87993" y="3318088"/>
                  </a:lnTo>
                  <a:cubicBezTo>
                    <a:pt x="87993" y="3342386"/>
                    <a:pt x="68295" y="3362084"/>
                    <a:pt x="43996" y="3362084"/>
                  </a:cubicBezTo>
                  <a:lnTo>
                    <a:pt x="43996" y="3362084"/>
                  </a:lnTo>
                  <a:cubicBezTo>
                    <a:pt x="19698" y="3362084"/>
                    <a:pt x="0" y="3342386"/>
                    <a:pt x="0" y="3318088"/>
                  </a:cubicBezTo>
                  <a:lnTo>
                    <a:pt x="0" y="43996"/>
                  </a:lnTo>
                  <a:cubicBezTo>
                    <a:pt x="0" y="19698"/>
                    <a:pt x="19698" y="0"/>
                    <a:pt x="43996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85725"/>
              <a:ext cx="87993" cy="3276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pic>
        <p:nvPicPr>
          <p:cNvPr id="2050" name="Picture 2" descr="Brownian Motion Graph Simulating Geometric Brownian Motion">
            <a:extLst>
              <a:ext uri="{FF2B5EF4-FFF2-40B4-BE49-F238E27FC236}">
                <a16:creationId xmlns:a16="http://schemas.microsoft.com/office/drawing/2014/main" id="{65BCC80E-15B5-8DE2-5140-8C5D3FD71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6999" y="6515100"/>
            <a:ext cx="8284933" cy="4216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BA128A5F-11D0-13F8-0ECD-77C50802E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AD36D3-B27E-FE13-16F5-2443549B7ED9}"/>
              </a:ext>
            </a:extLst>
          </p:cNvPr>
          <p:cNvSpPr txBox="1"/>
          <p:nvPr/>
        </p:nvSpPr>
        <p:spPr>
          <a:xfrm>
            <a:off x="448763" y="1933672"/>
            <a:ext cx="95147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119" dirty="0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The mathematical object Bachelier needed: continuous, with independent Normal increments — made rigorous decades later by Norbert Wiener.</a:t>
            </a:r>
            <a:r>
              <a:rPr lang="en-US" altLang="en-US" sz="2000" b="1" dirty="0">
                <a:latin typeface="Arial" panose="020B0604020202020204" pitchFamily="34" charset="0"/>
              </a:rPr>
              <a:t> </a:t>
            </a:r>
          </a:p>
          <a:p>
            <a:endParaRPr lang="en-IN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F9C6F8-B075-8D82-C923-4169856B86E1}"/>
              </a:ext>
            </a:extLst>
          </p:cNvPr>
          <p:cNvSpPr txBox="1"/>
          <p:nvPr/>
        </p:nvSpPr>
        <p:spPr>
          <a:xfrm>
            <a:off x="576563" y="6291226"/>
            <a:ext cx="925913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119" dirty="0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As </a:t>
            </a:r>
            <a:r>
              <a:rPr lang="en-US" sz="2000" b="1" spc="119" dirty="0" err="1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Δt</a:t>
            </a:r>
            <a:r>
              <a:rPr lang="en-US" sz="2000" b="1" spc="119" dirty="0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shrinks to zero, the step model becomes Geometric Brownian Motion, keeping X positive. </a:t>
            </a:r>
          </a:p>
          <a:p>
            <a:endParaRPr lang="en-US" sz="2000" b="1" spc="119" dirty="0">
              <a:solidFill>
                <a:srgbClr val="3A855D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r>
              <a:rPr lang="en-US" sz="2000" b="1" spc="119" dirty="0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The rule (</a:t>
            </a:r>
            <a:r>
              <a:rPr lang="en-US" sz="2000" b="1" spc="119" dirty="0" err="1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dW</a:t>
            </a:r>
            <a:r>
              <a:rPr lang="en-US" sz="2000" b="1" spc="119" dirty="0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)² = dt is what makes stochastic calculus different. </a:t>
            </a:r>
          </a:p>
          <a:p>
            <a:endParaRPr lang="en-IN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05439" y="-896680"/>
            <a:ext cx="8377052" cy="11928208"/>
          </a:xfrm>
          <a:custGeom>
            <a:avLst/>
            <a:gdLst/>
            <a:ahLst/>
            <a:cxnLst/>
            <a:rect l="l" t="t" r="r" b="b"/>
            <a:pathLst>
              <a:path w="8377052" h="11928208">
                <a:moveTo>
                  <a:pt x="0" y="0"/>
                </a:moveTo>
                <a:lnTo>
                  <a:pt x="8377051" y="0"/>
                </a:lnTo>
                <a:lnTo>
                  <a:pt x="8377051" y="11928208"/>
                </a:lnTo>
                <a:lnTo>
                  <a:pt x="0" y="119282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098264" y="571500"/>
            <a:ext cx="9601200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4400" b="1" spc="-294" dirty="0" err="1">
                <a:solidFill>
                  <a:srgbClr val="3A855D"/>
                </a:solidFill>
                <a:latin typeface="Cambria" panose="02040503050406030204" pitchFamily="18" charset="0"/>
                <a:ea typeface="Cambria" panose="02040503050406030204" pitchFamily="18" charset="0"/>
                <a:cs typeface="Public Sans"/>
                <a:sym typeface="Public Sans"/>
              </a:rPr>
              <a:t>Itô's</a:t>
            </a:r>
            <a:r>
              <a:rPr lang="en-US" sz="4400" b="1" spc="-294" dirty="0">
                <a:solidFill>
                  <a:srgbClr val="3A855D"/>
                </a:solidFill>
                <a:latin typeface="Cambria" panose="02040503050406030204" pitchFamily="18" charset="0"/>
                <a:ea typeface="Cambria" panose="02040503050406030204" pitchFamily="18" charset="0"/>
                <a:cs typeface="Public Sans"/>
                <a:sym typeface="Public Sans"/>
              </a:rPr>
              <a:t> Lemma and the Log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4"/>
              <p:cNvSpPr txBox="1"/>
              <p:nvPr/>
            </p:nvSpPr>
            <p:spPr>
              <a:xfrm>
                <a:off x="7981518" y="1333500"/>
                <a:ext cx="9925481" cy="911589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solidFill>
                      <a:srgbClr val="3A855D"/>
                    </a:solidFill>
                    <a:latin typeface="Public Sans Medium" panose="020B0604020202020204" charset="0"/>
                  </a:rPr>
                  <a:t>The process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3A855D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000" b="1" i="1" smtClean="0">
                        <a:solidFill>
                          <a:srgbClr val="3A855D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rgbClr val="3A855D"/>
                    </a:solidFill>
                    <a:latin typeface="Public Sans Medium" panose="020B0604020202020204" charset="0"/>
                  </a:rPr>
                  <a:t>is a little awkward to work with directly, as the larger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3A855D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000" b="1" i="1" smtClean="0">
                        <a:solidFill>
                          <a:srgbClr val="3A855D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0" smtClean="0">
                        <a:solidFill>
                          <a:srgbClr val="3A855D"/>
                        </a:solidFill>
                        <a:latin typeface="Cambria Math" panose="02040503050406030204" pitchFamily="18" charset="0"/>
                      </a:rPr>
                      <m:t>𝐛𝐞𝐜𝐨𝐦𝐞𝐬</m:t>
                    </m:r>
                  </m:oMath>
                </a14:m>
                <a:r>
                  <a:rPr lang="en-US" sz="2000" b="1" dirty="0">
                    <a:solidFill>
                      <a:srgbClr val="3A855D"/>
                    </a:solidFill>
                    <a:latin typeface="Public Sans Medium" panose="020B0604020202020204" charset="0"/>
                  </a:rPr>
                  <a:t>, the larger its random movements become.</a:t>
                </a:r>
              </a:p>
              <a:p>
                <a:pPr>
                  <a:lnSpc>
                    <a:spcPct val="150000"/>
                  </a:lnSpc>
                </a:pPr>
                <a:endParaRPr lang="en-US" sz="2000" b="1" dirty="0">
                  <a:solidFill>
                    <a:srgbClr val="3A855D"/>
                  </a:solidFill>
                  <a:latin typeface="Public Sans Medium" panose="020B060402020202020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solidFill>
                      <a:srgbClr val="3A855D"/>
                    </a:solidFill>
                    <a:latin typeface="Public Sans Medium" panose="020B0604020202020204" charset="0"/>
                  </a:rPr>
                  <a:t>So instead of looking at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3A855D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000" b="1" i="1" smtClean="0">
                        <a:solidFill>
                          <a:srgbClr val="3A855D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rgbClr val="3A855D"/>
                    </a:solidFill>
                    <a:latin typeface="Public Sans Medium" panose="020B0604020202020204" charset="0"/>
                  </a:rPr>
                  <a:t>itself, we take its logarithm. The logarithm has a useful property. (multiplicative changes into additive changes)</a:t>
                </a:r>
              </a:p>
              <a:p>
                <a:pPr>
                  <a:lnSpc>
                    <a:spcPct val="150000"/>
                  </a:lnSpc>
                </a:pPr>
                <a:endParaRPr lang="en-US" sz="2000" b="1" dirty="0">
                  <a:solidFill>
                    <a:srgbClr val="3A855D"/>
                  </a:solidFill>
                  <a:latin typeface="Public Sans Medium" panose="020B060402020202020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solidFill>
                      <a:srgbClr val="3A855D"/>
                    </a:solidFill>
                    <a:latin typeface="Public Sans Medium" panose="020B0604020202020204" charset="0"/>
                  </a:rPr>
                  <a:t>However, because the randomness comes from Brownian motion, we cannot simply apply the ordinary chain rule from calculus.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solidFill>
                      <a:srgbClr val="3A855D"/>
                    </a:solidFill>
                    <a:latin typeface="Public Sans Medium" panose="020B0604020202020204" charset="0"/>
                  </a:rPr>
                  <a:t>Stochastic calculus introduces an additional correction term — this is where </a:t>
                </a:r>
                <a:r>
                  <a:rPr lang="en-US" sz="2000" b="1" dirty="0" err="1">
                    <a:solidFill>
                      <a:srgbClr val="3A855D"/>
                    </a:solidFill>
                    <a:latin typeface="Public Sans Medium" panose="020B0604020202020204" charset="0"/>
                  </a:rPr>
                  <a:t>Itô's</a:t>
                </a:r>
                <a:r>
                  <a:rPr lang="en-US" sz="2000" b="1" dirty="0">
                    <a:solidFill>
                      <a:srgbClr val="3A855D"/>
                    </a:solidFill>
                    <a:latin typeface="Public Sans Medium" panose="020B0604020202020204" charset="0"/>
                  </a:rPr>
                  <a:t> lemma becomes essential.</a:t>
                </a:r>
              </a:p>
              <a:p>
                <a:pPr>
                  <a:lnSpc>
                    <a:spcPct val="150000"/>
                  </a:lnSpc>
                </a:pPr>
                <a:endParaRPr lang="en-US" sz="2000" b="1" dirty="0">
                  <a:solidFill>
                    <a:srgbClr val="3A855D"/>
                  </a:solidFill>
                  <a:latin typeface="Public Sans Medium" panose="020B060402020202020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solidFill>
                      <a:srgbClr val="3A855D"/>
                    </a:solidFill>
                    <a:latin typeface="Public Sans Medium" panose="020B0604020202020204" charset="0"/>
                  </a:rPr>
                  <a:t>The logarithmic change in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3A855D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000" b="1" i="1" smtClean="0">
                        <a:solidFill>
                          <a:srgbClr val="3A855D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0" smtClean="0">
                        <a:solidFill>
                          <a:srgbClr val="3A855D"/>
                        </a:solidFill>
                        <a:latin typeface="Cambria Math" panose="02040503050406030204" pitchFamily="18" charset="0"/>
                      </a:rPr>
                      <m:t>𝐛𝐞𝐜𝐨𝐦𝐞𝐬</m:t>
                    </m:r>
                  </m:oMath>
                </a14:m>
                <a:r>
                  <a:rPr lang="en-US" sz="2000" b="1" dirty="0">
                    <a:solidFill>
                      <a:srgbClr val="3A855D"/>
                    </a:solidFill>
                    <a:latin typeface="Public Sans Medium" panose="020B0604020202020204" charset="0"/>
                  </a:rPr>
                  <a:t> a combination of a deterministic component and Brownian motion. And since Brownian motion at a fixed time is normally distributed, the log-return itself is exactly normally distributed.</a:t>
                </a:r>
              </a:p>
              <a:p>
                <a:pPr>
                  <a:lnSpc>
                    <a:spcPct val="150000"/>
                  </a:lnSpc>
                </a:pPr>
                <a:endParaRPr lang="en-US" sz="2000" b="1" dirty="0">
                  <a:solidFill>
                    <a:srgbClr val="3A855D"/>
                  </a:solidFill>
                  <a:latin typeface="Public Sans Medium" panose="020B060402020202020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solidFill>
                      <a:srgbClr val="3A855D"/>
                    </a:solidFill>
                    <a:latin typeface="Public Sans Medium" panose="020B0604020202020204" charset="0"/>
                  </a:rPr>
                  <a:t>So this is the point where the Normal distribution is no longer an assumption — it emerges directly from the model.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solidFill>
                      <a:srgbClr val="3A855D"/>
                    </a:solidFill>
                    <a:latin typeface="Public Sans Medium" panose="020B0604020202020204" charset="0"/>
                  </a:rPr>
                  <a:t>This connects back to Bachelier's much earlier intuition about using the Normal distribution to describe random changes.</a:t>
                </a:r>
              </a:p>
              <a:p>
                <a:pPr marL="0" lvl="0" indent="0" algn="l">
                  <a:lnSpc>
                    <a:spcPct val="150000"/>
                  </a:lnSpc>
                  <a:spcBef>
                    <a:spcPct val="0"/>
                  </a:spcBef>
                </a:pPr>
                <a:endParaRPr lang="en-US" sz="1699" b="1" u="none" spc="119" dirty="0">
                  <a:solidFill>
                    <a:srgbClr val="3A855D"/>
                  </a:solidFill>
                  <a:latin typeface="Public Sans Medium"/>
                  <a:ea typeface="Public Sans Medium"/>
                  <a:cs typeface="Public Sans Medium"/>
                  <a:sym typeface="Public Sans Medium"/>
                </a:endParaRPr>
              </a:p>
            </p:txBody>
          </p:sp>
        </mc:Choice>
        <mc:Fallback xmlns="">
          <p:sp>
            <p:nvSpPr>
              <p:cNvPr id="4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518" y="1333500"/>
                <a:ext cx="9925481" cy="9115893"/>
              </a:xfrm>
              <a:prstGeom prst="rect">
                <a:avLst/>
              </a:prstGeom>
              <a:blipFill>
                <a:blip r:embed="rId3"/>
                <a:stretch>
                  <a:fillRect l="-1536" r="-17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5"/>
          <p:cNvGrpSpPr/>
          <p:nvPr/>
        </p:nvGrpSpPr>
        <p:grpSpPr>
          <a:xfrm>
            <a:off x="7457439" y="-858580"/>
            <a:ext cx="314174" cy="12004159"/>
            <a:chOff x="0" y="0"/>
            <a:chExt cx="87993" cy="33620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7993" cy="3362084"/>
            </a:xfrm>
            <a:custGeom>
              <a:avLst/>
              <a:gdLst/>
              <a:ahLst/>
              <a:cxnLst/>
              <a:rect l="l" t="t" r="r" b="b"/>
              <a:pathLst>
                <a:path w="87993" h="3362084">
                  <a:moveTo>
                    <a:pt x="43996" y="0"/>
                  </a:moveTo>
                  <a:lnTo>
                    <a:pt x="43996" y="0"/>
                  </a:lnTo>
                  <a:cubicBezTo>
                    <a:pt x="68295" y="0"/>
                    <a:pt x="87993" y="19698"/>
                    <a:pt x="87993" y="43996"/>
                  </a:cubicBezTo>
                  <a:lnTo>
                    <a:pt x="87993" y="3318088"/>
                  </a:lnTo>
                  <a:cubicBezTo>
                    <a:pt x="87993" y="3342386"/>
                    <a:pt x="68295" y="3362084"/>
                    <a:pt x="43996" y="3362084"/>
                  </a:cubicBezTo>
                  <a:lnTo>
                    <a:pt x="43996" y="3362084"/>
                  </a:lnTo>
                  <a:cubicBezTo>
                    <a:pt x="19698" y="3362084"/>
                    <a:pt x="0" y="3342386"/>
                    <a:pt x="0" y="3318088"/>
                  </a:cubicBezTo>
                  <a:lnTo>
                    <a:pt x="0" y="43996"/>
                  </a:lnTo>
                  <a:cubicBezTo>
                    <a:pt x="0" y="19698"/>
                    <a:pt x="19698" y="0"/>
                    <a:pt x="43996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85725"/>
              <a:ext cx="87993" cy="3276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09700" y="1468819"/>
            <a:ext cx="8229159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400" b="1" spc="-327" dirty="0">
                <a:solidFill>
                  <a:srgbClr val="3A855D"/>
                </a:solidFill>
                <a:latin typeface="Cambria" panose="02040503050406030204" pitchFamily="18" charset="0"/>
                <a:ea typeface="Cambria" panose="02040503050406030204" pitchFamily="18" charset="0"/>
                <a:cs typeface="Public Sans"/>
                <a:sym typeface="Public Sans"/>
              </a:rPr>
              <a:t>The Black-Scholes Equation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77355" y="2579065"/>
            <a:ext cx="8703560" cy="10111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699"/>
              </a:lnSpc>
              <a:spcBef>
                <a:spcPct val="0"/>
              </a:spcBef>
            </a:pPr>
            <a:r>
              <a:rPr lang="en-US" sz="2000" b="1" u="none" spc="101" dirty="0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Build a combination Π of V and X, and pick the multiple of X that makes its random part vanish completely — three steps to the Black–Scholes equation.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61239" y="1170261"/>
            <a:ext cx="6998061" cy="2561528"/>
            <a:chOff x="0" y="0"/>
            <a:chExt cx="2342659" cy="8574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767897" y="1966203"/>
            <a:ext cx="1578952" cy="1169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9000" spc="-738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01.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61239" y="3862348"/>
            <a:ext cx="6998061" cy="2561528"/>
            <a:chOff x="0" y="0"/>
            <a:chExt cx="2342659" cy="8574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61239" y="6557226"/>
            <a:ext cx="6998061" cy="2561528"/>
            <a:chOff x="0" y="0"/>
            <a:chExt cx="2342659" cy="8574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767897" y="4635817"/>
            <a:ext cx="1578952" cy="1169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9000" spc="-738" dirty="0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02.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67897" y="7353167"/>
            <a:ext cx="1578952" cy="1169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9000" spc="-738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03.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6"/>
              <p:cNvSpPr txBox="1"/>
              <p:nvPr/>
            </p:nvSpPr>
            <p:spPr>
              <a:xfrm>
                <a:off x="12535946" y="1475257"/>
                <a:ext cx="4132127" cy="179017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lvl="0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IN" sz="2000" b="1" dirty="0">
                    <a:solidFill>
                      <a:srgbClr val="F1F0EC"/>
                    </a:solidFill>
                    <a:latin typeface="Public Sans Medium" panose="020B0604020202020204" charset="0"/>
                  </a:rPr>
                  <a:t>By choosing </a:t>
                </a:r>
                <a14:m>
                  <m:oMath xmlns:m="http://schemas.openxmlformats.org/officeDocument/2006/math">
                    <m:r>
                      <a:rPr lang="el-GR" sz="2000" b="1" i="1">
                        <a:solidFill>
                          <a:srgbClr val="F1F0EC"/>
                        </a:solidFill>
                        <a:latin typeface="Cambria Math" panose="02040503050406030204" pitchFamily="18" charset="0"/>
                      </a:rPr>
                      <m:t>𝚫</m:t>
                    </m:r>
                    <m:r>
                      <a:rPr lang="el-GR" sz="2000" b="1">
                        <a:solidFill>
                          <a:srgbClr val="F1F0E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2000" b="1" i="1">
                            <a:solidFill>
                              <a:srgbClr val="F1F0E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1" i="1">
                            <a:solidFill>
                              <a:srgbClr val="F1F0EC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ar-AE" sz="2000" b="1" i="1">
                            <a:solidFill>
                              <a:srgbClr val="F1F0EC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ar-AE" sz="2000" b="1" dirty="0">
                    <a:solidFill>
                      <a:srgbClr val="F1F0EC"/>
                    </a:solidFill>
                    <a:latin typeface="Public Sans Medium" panose="020B0604020202020204" charset="0"/>
                  </a:rPr>
                  <a:t>, </a:t>
                </a:r>
                <a:r>
                  <a:rPr lang="en-IN" sz="2000" b="1" dirty="0">
                    <a:solidFill>
                      <a:srgbClr val="F1F0EC"/>
                    </a:solidFill>
                    <a:latin typeface="Public Sans Medium" panose="020B0604020202020204" charset="0"/>
                  </a:rPr>
                  <a:t>the random component cancels exactly, making the portfolio locally risk-free</a:t>
                </a:r>
                <a:endParaRPr lang="en-US" sz="2000" b="1" u="none" spc="67" dirty="0">
                  <a:solidFill>
                    <a:srgbClr val="F1F0EC"/>
                  </a:solidFill>
                  <a:latin typeface="Public Sans Medium" panose="020B0604020202020204" charset="0"/>
                  <a:ea typeface="Public Sans Medium"/>
                  <a:cs typeface="Public Sans Medium"/>
                  <a:sym typeface="Public Sans Medium"/>
                </a:endParaRPr>
              </a:p>
            </p:txBody>
          </p:sp>
        </mc:Choice>
        <mc:Fallback xmlns="">
          <p:sp>
            <p:nvSpPr>
              <p:cNvPr id="16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5946" y="1475257"/>
                <a:ext cx="4132127" cy="1790170"/>
              </a:xfrm>
              <a:prstGeom prst="rect">
                <a:avLst/>
              </a:prstGeom>
              <a:blipFill>
                <a:blip r:embed="rId2"/>
                <a:stretch>
                  <a:fillRect l="-3687" b="-74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7"/>
          <p:cNvSpPr txBox="1"/>
          <p:nvPr/>
        </p:nvSpPr>
        <p:spPr>
          <a:xfrm>
            <a:off x="12613284" y="4202909"/>
            <a:ext cx="4132127" cy="179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1F0EC"/>
                </a:solidFill>
                <a:latin typeface="Public Sans Medium" panose="020B0604020202020204" charset="0"/>
              </a:rPr>
              <a:t>Since the portfolio is risk-free, it must earn the risk-free rate. Otherwise, there would be an arbitrage opportunity.</a:t>
            </a:r>
            <a:endParaRPr lang="en-US" sz="2000" b="1" u="none" spc="67" dirty="0">
              <a:solidFill>
                <a:srgbClr val="F1F0EC"/>
              </a:solidFill>
              <a:latin typeface="Public Sans Medium" panose="020B0604020202020204" charset="0"/>
              <a:ea typeface="Public Sans Medium"/>
              <a:cs typeface="Public Sans Medium"/>
              <a:sym typeface="Public Sans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8"/>
              <p:cNvSpPr txBox="1"/>
              <p:nvPr/>
            </p:nvSpPr>
            <p:spPr>
              <a:xfrm>
                <a:off x="12613283" y="6608823"/>
                <a:ext cx="4132127" cy="225183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lvl="0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sz="2000" b="1" dirty="0">
                    <a:solidFill>
                      <a:srgbClr val="F1F0EC"/>
                    </a:solidFill>
                    <a:latin typeface="Public Sans Medium" panose="020B0604020202020204" charset="0"/>
                  </a:rPr>
                  <a:t>When we substitute the hedged portfolio into the risk-free condition, the drift term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1F0EC"/>
                        </a:solidFill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2000" b="1" i="1" smtClean="0">
                        <a:solidFill>
                          <a:srgbClr val="F1F0E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rgbClr val="F1F0EC"/>
                    </a:solidFill>
                    <a:latin typeface="Public Sans Medium" panose="020B0604020202020204" charset="0"/>
                  </a:rPr>
                  <a:t>cancels out. What remains is the Black–Scholes equation.</a:t>
                </a:r>
                <a:endParaRPr lang="en-US" sz="2000" b="1" u="none" spc="67" dirty="0">
                  <a:solidFill>
                    <a:srgbClr val="F1F0EC"/>
                  </a:solidFill>
                  <a:latin typeface="Public Sans Medium" panose="020B0604020202020204" charset="0"/>
                  <a:ea typeface="Public Sans Medium"/>
                  <a:cs typeface="Public Sans Medium"/>
                  <a:sym typeface="Public Sans Medium"/>
                </a:endParaRPr>
              </a:p>
            </p:txBody>
          </p:sp>
        </mc:Choice>
        <mc:Fallback xmlns="">
          <p:sp>
            <p:nvSpPr>
              <p:cNvPr id="18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3283" y="6608823"/>
                <a:ext cx="4132127" cy="2251835"/>
              </a:xfrm>
              <a:prstGeom prst="rect">
                <a:avLst/>
              </a:prstGeom>
              <a:blipFill>
                <a:blip r:embed="rId3"/>
                <a:stretch>
                  <a:fillRect l="-3687" r="-2655" b="-56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EFF3F2D4-8A84-226D-0B73-2130EBBF82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25166"/>
            <a:ext cx="10352078" cy="5651183"/>
          </a:xfrm>
          <a:prstGeom prst="rect">
            <a:avLst/>
          </a:prstGeom>
        </p:spPr>
      </p:pic>
      <p:grpSp>
        <p:nvGrpSpPr>
          <p:cNvPr id="23" name="Group 5">
            <a:extLst>
              <a:ext uri="{FF2B5EF4-FFF2-40B4-BE49-F238E27FC236}">
                <a16:creationId xmlns:a16="http://schemas.microsoft.com/office/drawing/2014/main" id="{BB612BA7-A02D-7E9A-7321-BA37205A534E}"/>
              </a:ext>
            </a:extLst>
          </p:cNvPr>
          <p:cNvGrpSpPr/>
          <p:nvPr/>
        </p:nvGrpSpPr>
        <p:grpSpPr>
          <a:xfrm>
            <a:off x="10072142" y="-1028700"/>
            <a:ext cx="314174" cy="12004159"/>
            <a:chOff x="0" y="0"/>
            <a:chExt cx="87993" cy="3362084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88143C3C-CFAB-E902-EFDB-4B0136110A95}"/>
                </a:ext>
              </a:extLst>
            </p:cNvPr>
            <p:cNvSpPr/>
            <p:nvPr/>
          </p:nvSpPr>
          <p:spPr>
            <a:xfrm>
              <a:off x="0" y="0"/>
              <a:ext cx="87993" cy="3362084"/>
            </a:xfrm>
            <a:custGeom>
              <a:avLst/>
              <a:gdLst/>
              <a:ahLst/>
              <a:cxnLst/>
              <a:rect l="l" t="t" r="r" b="b"/>
              <a:pathLst>
                <a:path w="87993" h="3362084">
                  <a:moveTo>
                    <a:pt x="43996" y="0"/>
                  </a:moveTo>
                  <a:lnTo>
                    <a:pt x="43996" y="0"/>
                  </a:lnTo>
                  <a:cubicBezTo>
                    <a:pt x="68295" y="0"/>
                    <a:pt x="87993" y="19698"/>
                    <a:pt x="87993" y="43996"/>
                  </a:cubicBezTo>
                  <a:lnTo>
                    <a:pt x="87993" y="3318088"/>
                  </a:lnTo>
                  <a:cubicBezTo>
                    <a:pt x="87993" y="3342386"/>
                    <a:pt x="68295" y="3362084"/>
                    <a:pt x="43996" y="3362084"/>
                  </a:cubicBezTo>
                  <a:lnTo>
                    <a:pt x="43996" y="3362084"/>
                  </a:lnTo>
                  <a:cubicBezTo>
                    <a:pt x="19698" y="3362084"/>
                    <a:pt x="0" y="3342386"/>
                    <a:pt x="0" y="3318088"/>
                  </a:cubicBezTo>
                  <a:lnTo>
                    <a:pt x="0" y="43996"/>
                  </a:lnTo>
                  <a:cubicBezTo>
                    <a:pt x="0" y="19698"/>
                    <a:pt x="19698" y="0"/>
                    <a:pt x="43996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25" name="TextBox 7">
              <a:extLst>
                <a:ext uri="{FF2B5EF4-FFF2-40B4-BE49-F238E27FC236}">
                  <a16:creationId xmlns:a16="http://schemas.microsoft.com/office/drawing/2014/main" id="{C0FD7A1A-8988-DA8C-AC6F-0F9009B39579}"/>
                </a:ext>
              </a:extLst>
            </p:cNvPr>
            <p:cNvSpPr txBox="1"/>
            <p:nvPr/>
          </p:nvSpPr>
          <p:spPr>
            <a:xfrm>
              <a:off x="0" y="85725"/>
              <a:ext cx="87993" cy="3276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26" name="Group 5">
            <a:extLst>
              <a:ext uri="{FF2B5EF4-FFF2-40B4-BE49-F238E27FC236}">
                <a16:creationId xmlns:a16="http://schemas.microsoft.com/office/drawing/2014/main" id="{0D16861C-27E8-4FD6-928A-51600CF72981}"/>
              </a:ext>
            </a:extLst>
          </p:cNvPr>
          <p:cNvGrpSpPr/>
          <p:nvPr/>
        </p:nvGrpSpPr>
        <p:grpSpPr>
          <a:xfrm rot="16200000">
            <a:off x="4227149" y="-1463387"/>
            <a:ext cx="314174" cy="12004159"/>
            <a:chOff x="0" y="0"/>
            <a:chExt cx="87993" cy="3362084"/>
          </a:xfrm>
        </p:grpSpPr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8D40BA2B-0A43-C8EE-5B0A-4096A04F5AF0}"/>
                </a:ext>
              </a:extLst>
            </p:cNvPr>
            <p:cNvSpPr/>
            <p:nvPr/>
          </p:nvSpPr>
          <p:spPr>
            <a:xfrm>
              <a:off x="0" y="0"/>
              <a:ext cx="87993" cy="3362084"/>
            </a:xfrm>
            <a:custGeom>
              <a:avLst/>
              <a:gdLst/>
              <a:ahLst/>
              <a:cxnLst/>
              <a:rect l="l" t="t" r="r" b="b"/>
              <a:pathLst>
                <a:path w="87993" h="3362084">
                  <a:moveTo>
                    <a:pt x="43996" y="0"/>
                  </a:moveTo>
                  <a:lnTo>
                    <a:pt x="43996" y="0"/>
                  </a:lnTo>
                  <a:cubicBezTo>
                    <a:pt x="68295" y="0"/>
                    <a:pt x="87993" y="19698"/>
                    <a:pt x="87993" y="43996"/>
                  </a:cubicBezTo>
                  <a:lnTo>
                    <a:pt x="87993" y="3318088"/>
                  </a:lnTo>
                  <a:cubicBezTo>
                    <a:pt x="87993" y="3342386"/>
                    <a:pt x="68295" y="3362084"/>
                    <a:pt x="43996" y="3362084"/>
                  </a:cubicBezTo>
                  <a:lnTo>
                    <a:pt x="43996" y="3362084"/>
                  </a:lnTo>
                  <a:cubicBezTo>
                    <a:pt x="19698" y="3362084"/>
                    <a:pt x="0" y="3342386"/>
                    <a:pt x="0" y="3318088"/>
                  </a:cubicBezTo>
                  <a:lnTo>
                    <a:pt x="0" y="43996"/>
                  </a:lnTo>
                  <a:cubicBezTo>
                    <a:pt x="0" y="19698"/>
                    <a:pt x="19698" y="0"/>
                    <a:pt x="43996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28" name="TextBox 7">
              <a:extLst>
                <a:ext uri="{FF2B5EF4-FFF2-40B4-BE49-F238E27FC236}">
                  <a16:creationId xmlns:a16="http://schemas.microsoft.com/office/drawing/2014/main" id="{483D1830-18AC-E7FA-506E-5492245982C2}"/>
                </a:ext>
              </a:extLst>
            </p:cNvPr>
            <p:cNvSpPr txBox="1"/>
            <p:nvPr/>
          </p:nvSpPr>
          <p:spPr>
            <a:xfrm>
              <a:off x="0" y="85725"/>
              <a:ext cx="87993" cy="3276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1561" y="677286"/>
            <a:ext cx="11925300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b="1" dirty="0">
                <a:solidFill>
                  <a:srgbClr val="3A85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formula is a promise</a:t>
            </a:r>
          </a:p>
          <a:p>
            <a:r>
              <a:rPr lang="en-US" sz="2800" b="1" dirty="0">
                <a:solidFill>
                  <a:srgbClr val="3A8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Black–Scholes prices an option in one line — but that line only holds if reality behaves</a:t>
            </a:r>
            <a:r>
              <a:rPr lang="en-US" sz="2800" b="1" dirty="0">
                <a:solidFill>
                  <a:srgbClr val="3A855D"/>
                </a:solidFill>
              </a:rPr>
              <a:t> </a:t>
            </a:r>
            <a:r>
              <a:rPr lang="en-US" sz="2800" b="1" dirty="0">
                <a:solidFill>
                  <a:srgbClr val="3A8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its assumptions say it does. </a:t>
            </a:r>
            <a:endParaRPr lang="en-US" sz="4400" dirty="0">
              <a:solidFill>
                <a:srgbClr val="3A855D"/>
              </a:solidFill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790773" y="2834554"/>
            <a:ext cx="4647012" cy="2526685"/>
            <a:chOff x="0" y="0"/>
            <a:chExt cx="1102601" cy="13967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02601" cy="1396725"/>
            </a:xfrm>
            <a:custGeom>
              <a:avLst/>
              <a:gdLst/>
              <a:ahLst/>
              <a:cxnLst/>
              <a:rect l="l" t="t" r="r" b="b"/>
              <a:pathLst>
                <a:path w="1102601" h="1396725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37686" y="5638509"/>
            <a:ext cx="3118810" cy="2853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95"/>
              </a:lnSpc>
              <a:spcBef>
                <a:spcPct val="0"/>
              </a:spcBef>
            </a:pPr>
            <a:r>
              <a:rPr lang="en-US" sz="1445" b="1" u="none" spc="86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Historical, VIX, and implied figures all disagree with each other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630934" y="2864891"/>
            <a:ext cx="4647014" cy="2526685"/>
            <a:chOff x="-92366" y="85725"/>
            <a:chExt cx="1250379" cy="1607324"/>
          </a:xfrm>
        </p:grpSpPr>
        <p:sp>
          <p:nvSpPr>
            <p:cNvPr id="8" name="Freeform 8"/>
            <p:cNvSpPr/>
            <p:nvPr/>
          </p:nvSpPr>
          <p:spPr>
            <a:xfrm>
              <a:off x="-92366" y="85725"/>
              <a:ext cx="1250379" cy="1607324"/>
            </a:xfrm>
            <a:custGeom>
              <a:avLst/>
              <a:gdLst/>
              <a:ahLst/>
              <a:cxnLst/>
              <a:rect l="l" t="t" r="r" b="b"/>
              <a:pathLst>
                <a:path w="1102601" h="1396725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753594" y="2834554"/>
            <a:ext cx="4350326" cy="2526685"/>
            <a:chOff x="0" y="0"/>
            <a:chExt cx="1102601" cy="13967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02601" cy="1396725"/>
            </a:xfrm>
            <a:custGeom>
              <a:avLst/>
              <a:gdLst/>
              <a:ahLst/>
              <a:cxnLst/>
              <a:rect l="l" t="t" r="r" b="b"/>
              <a:pathLst>
                <a:path w="1102601" h="1396725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03843" y="5995850"/>
            <a:ext cx="4647014" cy="2773618"/>
            <a:chOff x="0" y="0"/>
            <a:chExt cx="1102601" cy="139672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02601" cy="1396725"/>
            </a:xfrm>
            <a:custGeom>
              <a:avLst/>
              <a:gdLst/>
              <a:ahLst/>
              <a:cxnLst/>
              <a:rect l="l" t="t" r="r" b="b"/>
              <a:pathLst>
                <a:path w="1102601" h="1396725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698708" y="3662703"/>
            <a:ext cx="2596765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F1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move continuously</a:t>
            </a:r>
            <a:endParaRPr lang="en-US" sz="2800" dirty="0">
              <a:solidFill>
                <a:srgbClr val="F1F0EC"/>
              </a:solidFill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667000" y="6997658"/>
            <a:ext cx="1675534" cy="1494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95"/>
              </a:lnSpc>
              <a:spcBef>
                <a:spcPct val="0"/>
              </a:spcBef>
            </a:pPr>
            <a:r>
              <a:rPr lang="en-US" sz="1445" b="1" u="none" spc="86" dirty="0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Real returns show jumps, clustering, and fatter tails than Normal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39652" y="3667009"/>
            <a:ext cx="2596765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F1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is constant</a:t>
            </a:r>
            <a:endParaRPr lang="en-US" sz="2800" dirty="0">
              <a:solidFill>
                <a:srgbClr val="F1F0EC"/>
              </a:solidFill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786074" y="6652444"/>
            <a:ext cx="2460628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F1F0EC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No transaction costs or arbitrage</a:t>
            </a:r>
            <a:endParaRPr lang="en-US" sz="2800" b="1" dirty="0">
              <a:solidFill>
                <a:srgbClr val="F1F0E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705160" y="6612430"/>
            <a:ext cx="2596765" cy="855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2730" spc="-223" dirty="0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Hedging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732792" y="5638509"/>
            <a:ext cx="3118810" cy="2853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95"/>
              </a:lnSpc>
              <a:spcBef>
                <a:spcPct val="0"/>
              </a:spcBef>
            </a:pPr>
            <a:r>
              <a:rPr lang="en-US" sz="1445" b="1" u="none" spc="86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Many real contracts pay dividends or allow early exercise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30374" y="3336825"/>
            <a:ext cx="2596765" cy="129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F1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are normally distributed</a:t>
            </a:r>
            <a:endParaRPr lang="en-US" sz="2800" dirty="0">
              <a:solidFill>
                <a:srgbClr val="F1F0EC"/>
              </a:solidFill>
            </a:endParaRPr>
          </a:p>
        </p:txBody>
      </p:sp>
      <p:grpSp>
        <p:nvGrpSpPr>
          <p:cNvPr id="23" name="Group 13">
            <a:extLst>
              <a:ext uri="{FF2B5EF4-FFF2-40B4-BE49-F238E27FC236}">
                <a16:creationId xmlns:a16="http://schemas.microsoft.com/office/drawing/2014/main" id="{F9565F09-9908-76D8-F4F0-6BB15D163A72}"/>
              </a:ext>
            </a:extLst>
          </p:cNvPr>
          <p:cNvGrpSpPr/>
          <p:nvPr/>
        </p:nvGrpSpPr>
        <p:grpSpPr>
          <a:xfrm>
            <a:off x="12753594" y="5979624"/>
            <a:ext cx="4350326" cy="2638305"/>
            <a:chOff x="0" y="0"/>
            <a:chExt cx="1102601" cy="1396725"/>
          </a:xfrm>
        </p:grpSpPr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261B2EDF-4CA0-F305-A817-0B0862B47AD0}"/>
                </a:ext>
              </a:extLst>
            </p:cNvPr>
            <p:cNvSpPr/>
            <p:nvPr/>
          </p:nvSpPr>
          <p:spPr>
            <a:xfrm>
              <a:off x="0" y="0"/>
              <a:ext cx="1102601" cy="1396725"/>
            </a:xfrm>
            <a:custGeom>
              <a:avLst/>
              <a:gdLst/>
              <a:ahLst/>
              <a:cxnLst/>
              <a:rect l="l" t="t" r="r" b="b"/>
              <a:pathLst>
                <a:path w="1102601" h="1396725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25" name="TextBox 15">
              <a:extLst>
                <a:ext uri="{FF2B5EF4-FFF2-40B4-BE49-F238E27FC236}">
                  <a16:creationId xmlns:a16="http://schemas.microsoft.com/office/drawing/2014/main" id="{5CDFB761-319C-D877-E6A6-1F193A13DC79}"/>
                </a:ext>
              </a:extLst>
            </p:cNvPr>
            <p:cNvSpPr txBox="1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26" name="Group 13">
            <a:extLst>
              <a:ext uri="{FF2B5EF4-FFF2-40B4-BE49-F238E27FC236}">
                <a16:creationId xmlns:a16="http://schemas.microsoft.com/office/drawing/2014/main" id="{36547746-F759-7817-B4DA-C6ACC256B73E}"/>
              </a:ext>
            </a:extLst>
          </p:cNvPr>
          <p:cNvGrpSpPr/>
          <p:nvPr/>
        </p:nvGrpSpPr>
        <p:grpSpPr>
          <a:xfrm>
            <a:off x="788353" y="6032475"/>
            <a:ext cx="4647014" cy="2736993"/>
            <a:chOff x="0" y="0"/>
            <a:chExt cx="1102601" cy="1396725"/>
          </a:xfrm>
        </p:grpSpPr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id="{A8BA8D68-F763-8B30-8D3D-47FB9450512C}"/>
                </a:ext>
              </a:extLst>
            </p:cNvPr>
            <p:cNvSpPr/>
            <p:nvPr/>
          </p:nvSpPr>
          <p:spPr>
            <a:xfrm>
              <a:off x="0" y="0"/>
              <a:ext cx="1102601" cy="1396725"/>
            </a:xfrm>
            <a:custGeom>
              <a:avLst/>
              <a:gdLst/>
              <a:ahLst/>
              <a:cxnLst/>
              <a:rect l="l" t="t" r="r" b="b"/>
              <a:pathLst>
                <a:path w="1102601" h="1396725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28" name="TextBox 15">
              <a:extLst>
                <a:ext uri="{FF2B5EF4-FFF2-40B4-BE49-F238E27FC236}">
                  <a16:creationId xmlns:a16="http://schemas.microsoft.com/office/drawing/2014/main" id="{94CBCC91-FFEC-FD64-9C70-C6524202C520}"/>
                </a:ext>
              </a:extLst>
            </p:cNvPr>
            <p:cNvSpPr txBox="1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059F5C85-C6F9-C359-FFF0-B4C8BE9020CC}"/>
              </a:ext>
            </a:extLst>
          </p:cNvPr>
          <p:cNvSpPr txBox="1"/>
          <p:nvPr/>
        </p:nvSpPr>
        <p:spPr>
          <a:xfrm>
            <a:off x="1808795" y="6612430"/>
            <a:ext cx="261096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1F0EC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A constant, known risk-free rate</a:t>
            </a:r>
            <a:endParaRPr lang="en-US" sz="2800" b="1" dirty="0">
              <a:solidFill>
                <a:srgbClr val="F1F0E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IN" sz="2800" b="1" dirty="0">
              <a:solidFill>
                <a:srgbClr val="F1F0E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DABB9A-530E-FBFF-D577-3A876E174FDA}"/>
              </a:ext>
            </a:extLst>
          </p:cNvPr>
          <p:cNvSpPr txBox="1"/>
          <p:nvPr/>
        </p:nvSpPr>
        <p:spPr>
          <a:xfrm>
            <a:off x="13241707" y="6821722"/>
            <a:ext cx="35546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1F0EC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European exercise only</a:t>
            </a:r>
            <a:endParaRPr lang="en-US" sz="2800" dirty="0">
              <a:solidFill>
                <a:srgbClr val="F1F0E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777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35B433B-31B3-0CEB-4289-FF5E641CE9CC}"/>
              </a:ext>
            </a:extLst>
          </p:cNvPr>
          <p:cNvSpPr txBox="1"/>
          <p:nvPr/>
        </p:nvSpPr>
        <p:spPr>
          <a:xfrm>
            <a:off x="639960" y="772300"/>
            <a:ext cx="905060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400" b="1" spc="-327" dirty="0">
                <a:solidFill>
                  <a:srgbClr val="3A855D"/>
                </a:solidFill>
                <a:latin typeface="Cambria" panose="02040503050406030204" pitchFamily="18" charset="0"/>
                <a:ea typeface="Cambria" panose="02040503050406030204" pitchFamily="18" charset="0"/>
                <a:cs typeface="Public Sans"/>
                <a:sym typeface="Public Sans"/>
              </a:rPr>
              <a:t>From Equation to Closed-Form Formula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2823CD0-8511-472A-4480-33489A50F91F}"/>
              </a:ext>
            </a:extLst>
          </p:cNvPr>
          <p:cNvSpPr txBox="1"/>
          <p:nvPr/>
        </p:nvSpPr>
        <p:spPr>
          <a:xfrm>
            <a:off x="101284" y="1609786"/>
            <a:ext cx="10159955" cy="1882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3A855D"/>
                </a:solidFill>
                <a:latin typeface="Public Sans Medium" panose="020B0604020202020204" charset="0"/>
              </a:rPr>
              <a:t>European Call Option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A855D"/>
                </a:solidFill>
                <a:latin typeface="Public Sans Medium" panose="020B0604020202020204" charset="0"/>
              </a:rPr>
              <a:t>Right:</a:t>
            </a:r>
            <a:r>
              <a:rPr lang="en-US" sz="2000" dirty="0">
                <a:solidFill>
                  <a:srgbClr val="3A855D"/>
                </a:solidFill>
                <a:latin typeface="Public Sans Medium" panose="020B0604020202020204" charset="0"/>
              </a:rPr>
              <a:t> Gives the holder the right, but not the obligation, to buy the underlying asset.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A855D"/>
                </a:solidFill>
                <a:latin typeface="Public Sans Medium" panose="020B0604020202020204" charset="0"/>
              </a:rPr>
              <a:t>Strike Price:</a:t>
            </a:r>
            <a:r>
              <a:rPr lang="en-US" sz="2000" dirty="0">
                <a:solidFill>
                  <a:srgbClr val="3A855D"/>
                </a:solidFill>
                <a:latin typeface="Public Sans Medium" panose="020B0604020202020204" charset="0"/>
              </a:rPr>
              <a:t> The purchase is made at a predetermined strike price. (K)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A855D"/>
                </a:solidFill>
                <a:latin typeface="Public Sans Medium" panose="020B0604020202020204" charset="0"/>
              </a:rPr>
              <a:t>Exercise:</a:t>
            </a:r>
            <a:r>
              <a:rPr lang="en-US" sz="2000" dirty="0">
                <a:solidFill>
                  <a:srgbClr val="3A855D"/>
                </a:solidFill>
                <a:latin typeface="Public Sans Medium" panose="020B0604020202020204" charset="0"/>
              </a:rPr>
              <a:t> The option can be exercised </a:t>
            </a:r>
            <a:r>
              <a:rPr lang="en-US" sz="2000" b="1" dirty="0">
                <a:solidFill>
                  <a:srgbClr val="3A855D"/>
                </a:solidFill>
                <a:latin typeface="Public Sans Medium" panose="020B0604020202020204" charset="0"/>
              </a:rPr>
              <a:t>only at maturity</a:t>
            </a:r>
            <a:r>
              <a:rPr lang="en-US" sz="2000" dirty="0">
                <a:solidFill>
                  <a:srgbClr val="3A855D"/>
                </a:solidFill>
                <a:latin typeface="Public Sans Medium" panose="020B0604020202020204" charset="0"/>
              </a:rPr>
              <a:t>, not before. 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1B77F41-1F39-B86B-16E8-AA93516C6552}"/>
              </a:ext>
            </a:extLst>
          </p:cNvPr>
          <p:cNvGrpSpPr/>
          <p:nvPr/>
        </p:nvGrpSpPr>
        <p:grpSpPr>
          <a:xfrm>
            <a:off x="10261239" y="1170261"/>
            <a:ext cx="6998061" cy="2561528"/>
            <a:chOff x="0" y="0"/>
            <a:chExt cx="2342659" cy="85749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CF20953-D498-0340-C925-1A99B7355F18}"/>
                </a:ext>
              </a:extLst>
            </p:cNvPr>
            <p:cNvSpPr/>
            <p:nvPr/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43CBB23-1949-B5FE-73F6-22CD32E19A56}"/>
                </a:ext>
              </a:extLst>
            </p:cNvPr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EAE45C80-30B3-432D-9AAF-74811EDA287A}"/>
              </a:ext>
            </a:extLst>
          </p:cNvPr>
          <p:cNvSpPr txBox="1"/>
          <p:nvPr/>
        </p:nvSpPr>
        <p:spPr>
          <a:xfrm>
            <a:off x="10767897" y="1966203"/>
            <a:ext cx="1578952" cy="1169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9000" spc="-738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01.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51FEE9C2-4BB8-7051-BB43-57EA80FAE7C3}"/>
              </a:ext>
            </a:extLst>
          </p:cNvPr>
          <p:cNvGrpSpPr/>
          <p:nvPr/>
        </p:nvGrpSpPr>
        <p:grpSpPr>
          <a:xfrm>
            <a:off x="10261239" y="3862348"/>
            <a:ext cx="6998061" cy="2561528"/>
            <a:chOff x="0" y="0"/>
            <a:chExt cx="2342659" cy="85749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67CCBD5-5E91-071E-A759-A16DA4C7C612}"/>
                </a:ext>
              </a:extLst>
            </p:cNvPr>
            <p:cNvSpPr/>
            <p:nvPr/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0AE0E6E-3FE3-21DA-2888-41B549D9939C}"/>
                </a:ext>
              </a:extLst>
            </p:cNvPr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1FD32C6-E3F3-9C57-07CC-0AE3AC0A7708}"/>
              </a:ext>
            </a:extLst>
          </p:cNvPr>
          <p:cNvGrpSpPr/>
          <p:nvPr/>
        </p:nvGrpSpPr>
        <p:grpSpPr>
          <a:xfrm>
            <a:off x="10261239" y="6557226"/>
            <a:ext cx="6998061" cy="2561528"/>
            <a:chOff x="0" y="0"/>
            <a:chExt cx="2342659" cy="857492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A91DD18-9C5A-2C2B-A1AD-CD8B31FE5391}"/>
                </a:ext>
              </a:extLst>
            </p:cNvPr>
            <p:cNvSpPr/>
            <p:nvPr/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DA74A3C-8C1B-AE20-2679-6AE79853EFF1}"/>
                </a:ext>
              </a:extLst>
            </p:cNvPr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14958D7E-4227-5193-5386-7A3F0CC8D8AB}"/>
              </a:ext>
            </a:extLst>
          </p:cNvPr>
          <p:cNvSpPr txBox="1"/>
          <p:nvPr/>
        </p:nvSpPr>
        <p:spPr>
          <a:xfrm>
            <a:off x="10767897" y="4635817"/>
            <a:ext cx="1578952" cy="1169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9000" spc="-738" dirty="0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02.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8886265-4DD8-45A6-1B3D-F9C0CAA125D7}"/>
              </a:ext>
            </a:extLst>
          </p:cNvPr>
          <p:cNvSpPr txBox="1"/>
          <p:nvPr/>
        </p:nvSpPr>
        <p:spPr>
          <a:xfrm>
            <a:off x="10767897" y="7353167"/>
            <a:ext cx="1578952" cy="1169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9000" spc="-738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03.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A35BAC6-8872-111D-B715-7230F75BA48A}"/>
              </a:ext>
            </a:extLst>
          </p:cNvPr>
          <p:cNvSpPr txBox="1"/>
          <p:nvPr/>
        </p:nvSpPr>
        <p:spPr>
          <a:xfrm>
            <a:off x="12535946" y="1475257"/>
            <a:ext cx="4132127" cy="179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F1F0EC"/>
                </a:solidFill>
                <a:latin typeface="Public Sans Medium" panose="020B0604020202020204" charset="0"/>
              </a:rPr>
              <a:t>Terminal condition: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F1F0EC"/>
                </a:solidFill>
                <a:latin typeface="Public Sans Medium" panose="020B0604020202020204" charset="0"/>
              </a:rPr>
              <a:t>Defines the option’s payoff at maturity. </a:t>
            </a:r>
          </a:p>
          <a:p>
            <a:pPr lvl="0">
              <a:lnSpc>
                <a:spcPct val="150000"/>
              </a:lnSpc>
              <a:spcBef>
                <a:spcPct val="0"/>
              </a:spcBef>
            </a:pPr>
            <a:endParaRPr lang="en-US" sz="2000" b="1" u="none" spc="67" dirty="0">
              <a:solidFill>
                <a:srgbClr val="F1F0EC"/>
              </a:solidFill>
              <a:latin typeface="Public Sans Medium" panose="020B0604020202020204" charset="0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9FD752B-1752-E8B2-F764-4CACD685AABB}"/>
              </a:ext>
            </a:extLst>
          </p:cNvPr>
          <p:cNvSpPr txBox="1"/>
          <p:nvPr/>
        </p:nvSpPr>
        <p:spPr>
          <a:xfrm>
            <a:off x="12613284" y="4202909"/>
            <a:ext cx="4132127" cy="132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F1F0EC"/>
                </a:solidFill>
                <a:latin typeface="Public Sans Medium" panose="020B0604020202020204" charset="0"/>
              </a:rPr>
              <a:t>Boundary at zero: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F1F0EC"/>
                </a:solidFill>
                <a:latin typeface="Public Sans Medium" panose="020B0604020202020204" charset="0"/>
              </a:rPr>
              <a:t>Specifies the option value when the stock price reaches zero. 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A06A5D5-F129-2DAD-AD44-9F9024BC75EC}"/>
              </a:ext>
            </a:extLst>
          </p:cNvPr>
          <p:cNvSpPr txBox="1"/>
          <p:nvPr/>
        </p:nvSpPr>
        <p:spPr>
          <a:xfrm>
            <a:off x="12613284" y="6892535"/>
            <a:ext cx="4132127" cy="179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F1F0EC"/>
                </a:solidFill>
                <a:latin typeface="Public Sans Medium" panose="020B0604020202020204" charset="0"/>
              </a:rPr>
              <a:t>Boundary at infinity: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F1F0EC"/>
                </a:solidFill>
                <a:latin typeface="Public Sans Medium" panose="020B0604020202020204" charset="0"/>
              </a:rPr>
              <a:t>Describes how the option value behaves when the stock price becomes very large </a:t>
            </a:r>
          </a:p>
        </p:txBody>
      </p:sp>
      <p:grpSp>
        <p:nvGrpSpPr>
          <p:cNvPr id="20" name="Group 5">
            <a:extLst>
              <a:ext uri="{FF2B5EF4-FFF2-40B4-BE49-F238E27FC236}">
                <a16:creationId xmlns:a16="http://schemas.microsoft.com/office/drawing/2014/main" id="{365A8C3E-D52D-72FB-FBFF-38A1531432ED}"/>
              </a:ext>
            </a:extLst>
          </p:cNvPr>
          <p:cNvGrpSpPr/>
          <p:nvPr/>
        </p:nvGrpSpPr>
        <p:grpSpPr>
          <a:xfrm>
            <a:off x="10072142" y="-1028700"/>
            <a:ext cx="314174" cy="12004159"/>
            <a:chOff x="0" y="0"/>
            <a:chExt cx="87993" cy="3362084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B9DC8F34-3CB7-F110-0A2D-71652153418F}"/>
                </a:ext>
              </a:extLst>
            </p:cNvPr>
            <p:cNvSpPr/>
            <p:nvPr/>
          </p:nvSpPr>
          <p:spPr>
            <a:xfrm>
              <a:off x="0" y="0"/>
              <a:ext cx="87993" cy="3362084"/>
            </a:xfrm>
            <a:custGeom>
              <a:avLst/>
              <a:gdLst/>
              <a:ahLst/>
              <a:cxnLst/>
              <a:rect l="l" t="t" r="r" b="b"/>
              <a:pathLst>
                <a:path w="87993" h="3362084">
                  <a:moveTo>
                    <a:pt x="43996" y="0"/>
                  </a:moveTo>
                  <a:lnTo>
                    <a:pt x="43996" y="0"/>
                  </a:lnTo>
                  <a:cubicBezTo>
                    <a:pt x="68295" y="0"/>
                    <a:pt x="87993" y="19698"/>
                    <a:pt x="87993" y="43996"/>
                  </a:cubicBezTo>
                  <a:lnTo>
                    <a:pt x="87993" y="3318088"/>
                  </a:lnTo>
                  <a:cubicBezTo>
                    <a:pt x="87993" y="3342386"/>
                    <a:pt x="68295" y="3362084"/>
                    <a:pt x="43996" y="3362084"/>
                  </a:cubicBezTo>
                  <a:lnTo>
                    <a:pt x="43996" y="3362084"/>
                  </a:lnTo>
                  <a:cubicBezTo>
                    <a:pt x="19698" y="3362084"/>
                    <a:pt x="0" y="3342386"/>
                    <a:pt x="0" y="3318088"/>
                  </a:cubicBezTo>
                  <a:lnTo>
                    <a:pt x="0" y="43996"/>
                  </a:lnTo>
                  <a:cubicBezTo>
                    <a:pt x="0" y="19698"/>
                    <a:pt x="19698" y="0"/>
                    <a:pt x="43996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22" name="TextBox 7">
              <a:extLst>
                <a:ext uri="{FF2B5EF4-FFF2-40B4-BE49-F238E27FC236}">
                  <a16:creationId xmlns:a16="http://schemas.microsoft.com/office/drawing/2014/main" id="{9A2F001A-94F9-FFB5-8143-58063F668A91}"/>
                </a:ext>
              </a:extLst>
            </p:cNvPr>
            <p:cNvSpPr txBox="1"/>
            <p:nvPr/>
          </p:nvSpPr>
          <p:spPr>
            <a:xfrm>
              <a:off x="0" y="85725"/>
              <a:ext cx="87993" cy="3276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A2037039-98C7-9E0B-63A0-4AAA6992AC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" y="4336531"/>
            <a:ext cx="10064035" cy="5950469"/>
          </a:xfrm>
          <a:prstGeom prst="rect">
            <a:avLst/>
          </a:prstGeom>
        </p:spPr>
      </p:pic>
      <p:grpSp>
        <p:nvGrpSpPr>
          <p:cNvPr id="23" name="Group 5">
            <a:extLst>
              <a:ext uri="{FF2B5EF4-FFF2-40B4-BE49-F238E27FC236}">
                <a16:creationId xmlns:a16="http://schemas.microsoft.com/office/drawing/2014/main" id="{82B36441-9FC3-660B-9349-6F7D9AA29E22}"/>
              </a:ext>
            </a:extLst>
          </p:cNvPr>
          <p:cNvGrpSpPr/>
          <p:nvPr/>
        </p:nvGrpSpPr>
        <p:grpSpPr>
          <a:xfrm rot="16200000">
            <a:off x="4144544" y="-1792372"/>
            <a:ext cx="314174" cy="12004159"/>
            <a:chOff x="0" y="0"/>
            <a:chExt cx="87993" cy="3362084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AEF4E9F2-072B-70D2-7BB8-7D29A86CAE50}"/>
                </a:ext>
              </a:extLst>
            </p:cNvPr>
            <p:cNvSpPr/>
            <p:nvPr/>
          </p:nvSpPr>
          <p:spPr>
            <a:xfrm>
              <a:off x="0" y="0"/>
              <a:ext cx="87993" cy="3362084"/>
            </a:xfrm>
            <a:custGeom>
              <a:avLst/>
              <a:gdLst/>
              <a:ahLst/>
              <a:cxnLst/>
              <a:rect l="l" t="t" r="r" b="b"/>
              <a:pathLst>
                <a:path w="87993" h="3362084">
                  <a:moveTo>
                    <a:pt x="43996" y="0"/>
                  </a:moveTo>
                  <a:lnTo>
                    <a:pt x="43996" y="0"/>
                  </a:lnTo>
                  <a:cubicBezTo>
                    <a:pt x="68295" y="0"/>
                    <a:pt x="87993" y="19698"/>
                    <a:pt x="87993" y="43996"/>
                  </a:cubicBezTo>
                  <a:lnTo>
                    <a:pt x="87993" y="3318088"/>
                  </a:lnTo>
                  <a:cubicBezTo>
                    <a:pt x="87993" y="3342386"/>
                    <a:pt x="68295" y="3362084"/>
                    <a:pt x="43996" y="3362084"/>
                  </a:cubicBezTo>
                  <a:lnTo>
                    <a:pt x="43996" y="3362084"/>
                  </a:lnTo>
                  <a:cubicBezTo>
                    <a:pt x="19698" y="3362084"/>
                    <a:pt x="0" y="3342386"/>
                    <a:pt x="0" y="3318088"/>
                  </a:cubicBezTo>
                  <a:lnTo>
                    <a:pt x="0" y="43996"/>
                  </a:lnTo>
                  <a:cubicBezTo>
                    <a:pt x="0" y="19698"/>
                    <a:pt x="19698" y="0"/>
                    <a:pt x="43996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25" name="TextBox 7">
              <a:extLst>
                <a:ext uri="{FF2B5EF4-FFF2-40B4-BE49-F238E27FC236}">
                  <a16:creationId xmlns:a16="http://schemas.microsoft.com/office/drawing/2014/main" id="{FB745E2D-059A-F310-1055-45DC5D48B1A8}"/>
                </a:ext>
              </a:extLst>
            </p:cNvPr>
            <p:cNvSpPr txBox="1"/>
            <p:nvPr/>
          </p:nvSpPr>
          <p:spPr>
            <a:xfrm>
              <a:off x="0" y="85725"/>
              <a:ext cx="87993" cy="3276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55076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FB2888-9ACC-6D86-3A56-708D5D55D043}"/>
              </a:ext>
            </a:extLst>
          </p:cNvPr>
          <p:cNvSpPr txBox="1"/>
          <p:nvPr/>
        </p:nvSpPr>
        <p:spPr>
          <a:xfrm>
            <a:off x="914400" y="392967"/>
            <a:ext cx="16459200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 dirty="0">
                <a:solidFill>
                  <a:srgbClr val="3A855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From Black–Scholes PDE to European Call Formula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C3FE1C-3E7E-FD43-C36A-1A3919EF1040}"/>
              </a:ext>
            </a:extLst>
          </p:cNvPr>
          <p:cNvSpPr txBox="1"/>
          <p:nvPr/>
        </p:nvSpPr>
        <p:spPr>
          <a:xfrm>
            <a:off x="914400" y="1164520"/>
            <a:ext cx="164592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i="1" dirty="0">
                <a:solidFill>
                  <a:srgbClr val="5C6B60"/>
                </a:solidFill>
                <a:latin typeface="Calibri"/>
              </a:rPr>
              <a:t>Using the Heat Equation and the Feynman–Kac Theorem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84B9302B-82B6-8087-827F-A6C9BE51EADF}"/>
              </a:ext>
            </a:extLst>
          </p:cNvPr>
          <p:cNvCxnSpPr/>
          <p:nvPr/>
        </p:nvCxnSpPr>
        <p:spPr>
          <a:xfrm>
            <a:off x="2011680" y="1664208"/>
            <a:ext cx="14264640" cy="0"/>
          </a:xfrm>
          <a:prstGeom prst="line">
            <a:avLst/>
          </a:prstGeom>
          <a:ln w="19050">
            <a:solidFill>
              <a:srgbClr val="3A8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B921F69F-EF93-526F-7C75-DFAF34AFA33F}"/>
              </a:ext>
            </a:extLst>
          </p:cNvPr>
          <p:cNvSpPr/>
          <p:nvPr/>
        </p:nvSpPr>
        <p:spPr>
          <a:xfrm>
            <a:off x="502920" y="411480"/>
            <a:ext cx="457200" cy="457200"/>
          </a:xfrm>
          <a:prstGeom prst="ellipse">
            <a:avLst/>
          </a:prstGeom>
          <a:noFill/>
          <a:ln w="25400">
            <a:solidFill>
              <a:srgbClr val="3A85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1C02D79-2276-8A38-13D7-A083BF5661F8}"/>
              </a:ext>
            </a:extLst>
          </p:cNvPr>
          <p:cNvSpPr/>
          <p:nvPr/>
        </p:nvSpPr>
        <p:spPr>
          <a:xfrm>
            <a:off x="17373600" y="502920"/>
            <a:ext cx="320040" cy="320040"/>
          </a:xfrm>
          <a:prstGeom prst="ellipse">
            <a:avLst/>
          </a:prstGeom>
          <a:noFill/>
          <a:ln w="25400">
            <a:solidFill>
              <a:srgbClr val="3A85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927CED3-6AE9-C326-194E-B94A97930ABE}"/>
              </a:ext>
            </a:extLst>
          </p:cNvPr>
          <p:cNvSpPr/>
          <p:nvPr/>
        </p:nvSpPr>
        <p:spPr>
          <a:xfrm>
            <a:off x="777240" y="1965960"/>
            <a:ext cx="8092440" cy="6903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EC0570F-5169-B145-DDB8-DF01D59498E1}"/>
              </a:ext>
            </a:extLst>
          </p:cNvPr>
          <p:cNvSpPr/>
          <p:nvPr/>
        </p:nvSpPr>
        <p:spPr>
          <a:xfrm>
            <a:off x="2243480" y="2148840"/>
            <a:ext cx="5159959" cy="685800"/>
          </a:xfrm>
          <a:prstGeom prst="roundRect">
            <a:avLst>
              <a:gd name="adj" fmla="val 50000"/>
            </a:avLst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72FB59-A59A-1E46-6901-2902DA93534B}"/>
              </a:ext>
            </a:extLst>
          </p:cNvPr>
          <p:cNvSpPr txBox="1"/>
          <p:nvPr/>
        </p:nvSpPr>
        <p:spPr>
          <a:xfrm>
            <a:off x="2243480" y="2337851"/>
            <a:ext cx="5159959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Heat Equation Approach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88B49AB-9C77-9144-E0E1-F4BCA140A7A3}"/>
              </a:ext>
            </a:extLst>
          </p:cNvPr>
          <p:cNvSpPr/>
          <p:nvPr/>
        </p:nvSpPr>
        <p:spPr>
          <a:xfrm>
            <a:off x="914400" y="3154680"/>
            <a:ext cx="781812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3A85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49C9B4-B486-34C4-401C-85080463F6AC}"/>
              </a:ext>
            </a:extLst>
          </p:cNvPr>
          <p:cNvSpPr txBox="1"/>
          <p:nvPr/>
        </p:nvSpPr>
        <p:spPr>
          <a:xfrm>
            <a:off x="1234440" y="3264408"/>
            <a:ext cx="7178040" cy="63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dirty="0">
                <a:solidFill>
                  <a:srgbClr val="1F3D2B"/>
                </a:solidFill>
                <a:latin typeface="Calibri"/>
              </a:rPr>
              <a:t>Start with the Black–Scholes PDE</a:t>
            </a:r>
          </a:p>
          <a:p>
            <a:pPr algn="ctr">
              <a:spcAft>
                <a:spcPts val="0"/>
              </a:spcAft>
            </a:pPr>
            <a:r>
              <a:rPr b="0" dirty="0">
                <a:solidFill>
                  <a:srgbClr val="5C6B60"/>
                </a:solidFill>
                <a:latin typeface="Calibri"/>
              </a:rPr>
              <a:t>The option price satisfies a partial differential equation with given conditions.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A3D7B715-0D54-E6F4-2013-AA1D8532C76B}"/>
              </a:ext>
            </a:extLst>
          </p:cNvPr>
          <p:cNvCxnSpPr/>
          <p:nvPr/>
        </p:nvCxnSpPr>
        <p:spPr>
          <a:xfrm>
            <a:off x="4823460" y="4242816"/>
            <a:ext cx="0" cy="219456"/>
          </a:xfrm>
          <a:prstGeom prst="line">
            <a:avLst/>
          </a:prstGeom>
          <a:ln w="25400">
            <a:solidFill>
              <a:srgbClr val="3A85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999BEDC-FB7A-1753-AF2C-5A8C8EF48A6B}"/>
              </a:ext>
            </a:extLst>
          </p:cNvPr>
          <p:cNvSpPr/>
          <p:nvPr/>
        </p:nvSpPr>
        <p:spPr>
          <a:xfrm>
            <a:off x="914400" y="4498848"/>
            <a:ext cx="781812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3A85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B29888-D72D-7EC1-9CBB-F38E4B692D69}"/>
              </a:ext>
            </a:extLst>
          </p:cNvPr>
          <p:cNvSpPr txBox="1"/>
          <p:nvPr/>
        </p:nvSpPr>
        <p:spPr>
          <a:xfrm>
            <a:off x="1234440" y="4608576"/>
            <a:ext cx="7178040" cy="913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dirty="0">
                <a:solidFill>
                  <a:srgbClr val="1F3D2B"/>
                </a:solidFill>
                <a:latin typeface="Calibri"/>
              </a:rPr>
              <a:t>Change of variables</a:t>
            </a:r>
          </a:p>
          <a:p>
            <a:pPr algn="ctr">
              <a:spcAft>
                <a:spcPts val="0"/>
              </a:spcAft>
            </a:pPr>
            <a:r>
              <a:rPr b="0" dirty="0">
                <a:solidFill>
                  <a:srgbClr val="5C6B60"/>
                </a:solidFill>
                <a:latin typeface="Calibri"/>
              </a:rPr>
              <a:t>Transform the PDE into the standard heat equation using a suitable variable change.</a:t>
            </a:r>
          </a:p>
        </p:txBody>
      </p: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BC2EEC1B-679E-AEFA-5BDB-17192B909AD6}"/>
              </a:ext>
            </a:extLst>
          </p:cNvPr>
          <p:cNvCxnSpPr/>
          <p:nvPr/>
        </p:nvCxnSpPr>
        <p:spPr>
          <a:xfrm>
            <a:off x="4823460" y="5586984"/>
            <a:ext cx="0" cy="219456"/>
          </a:xfrm>
          <a:prstGeom prst="line">
            <a:avLst/>
          </a:prstGeom>
          <a:ln w="25400">
            <a:solidFill>
              <a:srgbClr val="3A85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DD2E9B1-E1CC-A8B8-89E7-A401DB1EDA77}"/>
              </a:ext>
            </a:extLst>
          </p:cNvPr>
          <p:cNvSpPr/>
          <p:nvPr/>
        </p:nvSpPr>
        <p:spPr>
          <a:xfrm>
            <a:off x="914400" y="5843016"/>
            <a:ext cx="781812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3A85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6DD9FC-DCC7-F78E-56A3-2B809EB5EC32}"/>
              </a:ext>
            </a:extLst>
          </p:cNvPr>
          <p:cNvSpPr txBox="1"/>
          <p:nvPr/>
        </p:nvSpPr>
        <p:spPr>
          <a:xfrm>
            <a:off x="1234440" y="5952744"/>
            <a:ext cx="7178040" cy="913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dirty="0">
                <a:solidFill>
                  <a:srgbClr val="1F3D2B"/>
                </a:solidFill>
                <a:latin typeface="Calibri"/>
              </a:rPr>
              <a:t>Solve the heat equation</a:t>
            </a:r>
          </a:p>
          <a:p>
            <a:pPr algn="ctr">
              <a:spcAft>
                <a:spcPts val="0"/>
              </a:spcAft>
            </a:pPr>
            <a:r>
              <a:rPr b="0" dirty="0">
                <a:solidFill>
                  <a:srgbClr val="5C6B60"/>
                </a:solidFill>
                <a:latin typeface="Calibri"/>
              </a:rPr>
              <a:t>Use the known solution method for the heat equation (e.g., Gaussian kernel).</a:t>
            </a:r>
          </a:p>
        </p:txBody>
      </p: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FAE0662F-68C3-5ADA-9B7B-414B22B2A64F}"/>
              </a:ext>
            </a:extLst>
          </p:cNvPr>
          <p:cNvCxnSpPr/>
          <p:nvPr/>
        </p:nvCxnSpPr>
        <p:spPr>
          <a:xfrm>
            <a:off x="4823460" y="6931151"/>
            <a:ext cx="0" cy="219456"/>
          </a:xfrm>
          <a:prstGeom prst="line">
            <a:avLst/>
          </a:prstGeom>
          <a:ln w="25400">
            <a:solidFill>
              <a:srgbClr val="3A85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8070F61-525B-225B-5564-5C2F3005E5F6}"/>
              </a:ext>
            </a:extLst>
          </p:cNvPr>
          <p:cNvSpPr/>
          <p:nvPr/>
        </p:nvSpPr>
        <p:spPr>
          <a:xfrm>
            <a:off x="914400" y="7187183"/>
            <a:ext cx="781812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3A85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D46B63-D73D-7807-EABF-7BC7C38B7075}"/>
              </a:ext>
            </a:extLst>
          </p:cNvPr>
          <p:cNvSpPr txBox="1"/>
          <p:nvPr/>
        </p:nvSpPr>
        <p:spPr>
          <a:xfrm>
            <a:off x="1234440" y="7296912"/>
            <a:ext cx="7178040" cy="913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dirty="0">
                <a:solidFill>
                  <a:srgbClr val="1F3D2B"/>
                </a:solidFill>
                <a:latin typeface="Calibri"/>
              </a:rPr>
              <a:t>Transform back</a:t>
            </a:r>
          </a:p>
          <a:p>
            <a:pPr algn="ctr">
              <a:spcAft>
                <a:spcPts val="0"/>
              </a:spcAft>
            </a:pPr>
            <a:r>
              <a:rPr b="0" dirty="0">
                <a:solidFill>
                  <a:srgbClr val="5C6B60"/>
                </a:solidFill>
                <a:latin typeface="Calibri"/>
              </a:rPr>
              <a:t>Revert the variables to obtain the option price in terms of the original variables.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A999B0B-2328-8B56-F4D9-015C2F99872C}"/>
              </a:ext>
            </a:extLst>
          </p:cNvPr>
          <p:cNvSpPr/>
          <p:nvPr/>
        </p:nvSpPr>
        <p:spPr>
          <a:xfrm>
            <a:off x="9098280" y="1965960"/>
            <a:ext cx="8092440" cy="6903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EC38F77-8AC9-4875-F8F7-D25C85F6CC89}"/>
              </a:ext>
            </a:extLst>
          </p:cNvPr>
          <p:cNvSpPr/>
          <p:nvPr/>
        </p:nvSpPr>
        <p:spPr>
          <a:xfrm>
            <a:off x="10564520" y="2148840"/>
            <a:ext cx="5159959" cy="685800"/>
          </a:xfrm>
          <a:prstGeom prst="roundRect">
            <a:avLst>
              <a:gd name="adj" fmla="val 50000"/>
            </a:avLst>
          </a:prstGeom>
          <a:solidFill>
            <a:srgbClr val="3A85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B92397-694B-E1F0-4F3D-6EAAC009E282}"/>
              </a:ext>
            </a:extLst>
          </p:cNvPr>
          <p:cNvSpPr txBox="1"/>
          <p:nvPr/>
        </p:nvSpPr>
        <p:spPr>
          <a:xfrm>
            <a:off x="10564520" y="2337851"/>
            <a:ext cx="5159959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Feynman–Kac Approach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DED41EC-5B78-46F3-8661-54525AEC7BCD}"/>
              </a:ext>
            </a:extLst>
          </p:cNvPr>
          <p:cNvSpPr/>
          <p:nvPr/>
        </p:nvSpPr>
        <p:spPr>
          <a:xfrm>
            <a:off x="9235440" y="3154680"/>
            <a:ext cx="781812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F3D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046197-D0EA-D117-5C4A-0C2B70C2F33E}"/>
              </a:ext>
            </a:extLst>
          </p:cNvPr>
          <p:cNvSpPr txBox="1"/>
          <p:nvPr/>
        </p:nvSpPr>
        <p:spPr>
          <a:xfrm>
            <a:off x="9555480" y="3264408"/>
            <a:ext cx="7178040" cy="913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dirty="0">
                <a:solidFill>
                  <a:srgbClr val="1F3D2B"/>
                </a:solidFill>
                <a:latin typeface="Calibri"/>
              </a:rPr>
              <a:t>View the PDE probabilistically</a:t>
            </a:r>
          </a:p>
          <a:p>
            <a:pPr algn="ctr">
              <a:spcAft>
                <a:spcPts val="0"/>
              </a:spcAft>
            </a:pPr>
            <a:r>
              <a:rPr b="0" dirty="0">
                <a:solidFill>
                  <a:srgbClr val="5C6B60"/>
                </a:solidFill>
                <a:latin typeface="Calibri"/>
              </a:rPr>
              <a:t>Use the Feynman–Kac theorem to interpret the PDE solution as an expected value.</a:t>
            </a:r>
          </a:p>
        </p:txBody>
      </p: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6C5F3133-3178-9861-DDDB-C5ABB6AB24C8}"/>
              </a:ext>
            </a:extLst>
          </p:cNvPr>
          <p:cNvCxnSpPr/>
          <p:nvPr/>
        </p:nvCxnSpPr>
        <p:spPr>
          <a:xfrm>
            <a:off x="13144500" y="4242816"/>
            <a:ext cx="0" cy="219456"/>
          </a:xfrm>
          <a:prstGeom prst="line">
            <a:avLst/>
          </a:prstGeom>
          <a:ln w="25400">
            <a:solidFill>
              <a:srgbClr val="1F3D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8196588-6BB4-4019-9F27-48B6F5B29650}"/>
              </a:ext>
            </a:extLst>
          </p:cNvPr>
          <p:cNvSpPr/>
          <p:nvPr/>
        </p:nvSpPr>
        <p:spPr>
          <a:xfrm>
            <a:off x="9235440" y="4498848"/>
            <a:ext cx="781812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F3D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277240-8C5B-C7B2-6DB7-AC2ABB59F2B1}"/>
              </a:ext>
            </a:extLst>
          </p:cNvPr>
          <p:cNvSpPr txBox="1"/>
          <p:nvPr/>
        </p:nvSpPr>
        <p:spPr>
          <a:xfrm>
            <a:off x="9555480" y="4608576"/>
            <a:ext cx="7178040" cy="63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dirty="0">
                <a:solidFill>
                  <a:srgbClr val="1F3D2B"/>
                </a:solidFill>
                <a:latin typeface="Calibri"/>
              </a:rPr>
              <a:t>Model the stock price</a:t>
            </a:r>
          </a:p>
          <a:p>
            <a:pPr algn="ctr">
              <a:spcAft>
                <a:spcPts val="0"/>
              </a:spcAft>
            </a:pPr>
            <a:r>
              <a:rPr b="0" dirty="0">
                <a:solidFill>
                  <a:srgbClr val="5C6B60"/>
                </a:solidFill>
                <a:latin typeface="Calibri"/>
              </a:rPr>
              <a:t>Under the risk-neutral measure, the stock price follows a stochastic process.</a:t>
            </a:r>
          </a:p>
        </p:txBody>
      </p: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C0042B4F-331A-D25A-D954-F6122EEF9E44}"/>
              </a:ext>
            </a:extLst>
          </p:cNvPr>
          <p:cNvCxnSpPr/>
          <p:nvPr/>
        </p:nvCxnSpPr>
        <p:spPr>
          <a:xfrm>
            <a:off x="13144500" y="5586984"/>
            <a:ext cx="0" cy="219456"/>
          </a:xfrm>
          <a:prstGeom prst="line">
            <a:avLst/>
          </a:prstGeom>
          <a:ln w="25400">
            <a:solidFill>
              <a:srgbClr val="1F3D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2AF3266-A003-7F81-5738-67D51335F222}"/>
              </a:ext>
            </a:extLst>
          </p:cNvPr>
          <p:cNvSpPr/>
          <p:nvPr/>
        </p:nvSpPr>
        <p:spPr>
          <a:xfrm>
            <a:off x="9235440" y="5843016"/>
            <a:ext cx="781812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F3D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F0A01A-2A60-5D3D-B2B6-6DD436BC70A4}"/>
              </a:ext>
            </a:extLst>
          </p:cNvPr>
          <p:cNvSpPr txBox="1"/>
          <p:nvPr/>
        </p:nvSpPr>
        <p:spPr>
          <a:xfrm>
            <a:off x="9555480" y="5952744"/>
            <a:ext cx="7178040" cy="63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dirty="0">
                <a:solidFill>
                  <a:srgbClr val="1F3D2B"/>
                </a:solidFill>
                <a:latin typeface="Calibri"/>
              </a:rPr>
              <a:t>Compute the expected payoff</a:t>
            </a:r>
          </a:p>
          <a:p>
            <a:pPr algn="ctr">
              <a:spcAft>
                <a:spcPts val="0"/>
              </a:spcAft>
            </a:pPr>
            <a:r>
              <a:rPr b="0" dirty="0">
                <a:solidFill>
                  <a:srgbClr val="5C6B60"/>
                </a:solidFill>
                <a:latin typeface="Calibri"/>
              </a:rPr>
              <a:t>Take the discounted expected value of the option's future payoff.</a:t>
            </a:r>
          </a:p>
        </p:txBody>
      </p:sp>
      <p:cxnSp>
        <p:nvCxnSpPr>
          <p:cNvPr id="32" name="Connector 31">
            <a:extLst>
              <a:ext uri="{FF2B5EF4-FFF2-40B4-BE49-F238E27FC236}">
                <a16:creationId xmlns:a16="http://schemas.microsoft.com/office/drawing/2014/main" id="{2D3F1940-A24F-60B5-34B7-FBDD72DEF775}"/>
              </a:ext>
            </a:extLst>
          </p:cNvPr>
          <p:cNvCxnSpPr/>
          <p:nvPr/>
        </p:nvCxnSpPr>
        <p:spPr>
          <a:xfrm>
            <a:off x="13144500" y="6931151"/>
            <a:ext cx="0" cy="219456"/>
          </a:xfrm>
          <a:prstGeom prst="line">
            <a:avLst/>
          </a:prstGeom>
          <a:ln w="25400">
            <a:solidFill>
              <a:srgbClr val="1F3D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9546538-D626-6A71-1EB5-B4EDC54F13E3}"/>
              </a:ext>
            </a:extLst>
          </p:cNvPr>
          <p:cNvSpPr/>
          <p:nvPr/>
        </p:nvSpPr>
        <p:spPr>
          <a:xfrm>
            <a:off x="9235440" y="7187183"/>
            <a:ext cx="781812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1F3D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1021FC-A80C-B945-768F-68DC319D0A9E}"/>
              </a:ext>
            </a:extLst>
          </p:cNvPr>
          <p:cNvSpPr txBox="1"/>
          <p:nvPr/>
        </p:nvSpPr>
        <p:spPr>
          <a:xfrm>
            <a:off x="9555480" y="7296912"/>
            <a:ext cx="7178040" cy="63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dirty="0">
                <a:solidFill>
                  <a:srgbClr val="1F3D2B"/>
                </a:solidFill>
                <a:latin typeface="Calibri"/>
              </a:rPr>
              <a:t>Express the price</a:t>
            </a:r>
          </a:p>
          <a:p>
            <a:pPr algn="ctr">
              <a:spcAft>
                <a:spcPts val="0"/>
              </a:spcAft>
            </a:pPr>
            <a:r>
              <a:rPr b="0" dirty="0">
                <a:solidFill>
                  <a:srgbClr val="5C6B60"/>
                </a:solidFill>
                <a:latin typeface="Calibri"/>
              </a:rPr>
              <a:t>This expectation gives the option value in terms of the underlying variables.</a:t>
            </a:r>
          </a:p>
        </p:txBody>
      </p:sp>
      <p:cxnSp>
        <p:nvCxnSpPr>
          <p:cNvPr id="35" name="Connector 34">
            <a:extLst>
              <a:ext uri="{FF2B5EF4-FFF2-40B4-BE49-F238E27FC236}">
                <a16:creationId xmlns:a16="http://schemas.microsoft.com/office/drawing/2014/main" id="{F2745C77-C503-8DDC-6652-274B7114560A}"/>
              </a:ext>
            </a:extLst>
          </p:cNvPr>
          <p:cNvCxnSpPr/>
          <p:nvPr/>
        </p:nvCxnSpPr>
        <p:spPr>
          <a:xfrm>
            <a:off x="4823460" y="8266176"/>
            <a:ext cx="0" cy="495604"/>
          </a:xfrm>
          <a:prstGeom prst="line">
            <a:avLst/>
          </a:prstGeom>
          <a:ln w="25400">
            <a:solidFill>
              <a:srgbClr val="3A8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>
            <a:extLst>
              <a:ext uri="{FF2B5EF4-FFF2-40B4-BE49-F238E27FC236}">
                <a16:creationId xmlns:a16="http://schemas.microsoft.com/office/drawing/2014/main" id="{4B05BE8A-3BDE-0868-185C-B795FB20B9E0}"/>
              </a:ext>
            </a:extLst>
          </p:cNvPr>
          <p:cNvCxnSpPr/>
          <p:nvPr/>
        </p:nvCxnSpPr>
        <p:spPr>
          <a:xfrm>
            <a:off x="4823460" y="8761780"/>
            <a:ext cx="4320540" cy="0"/>
          </a:xfrm>
          <a:prstGeom prst="line">
            <a:avLst/>
          </a:prstGeom>
          <a:ln w="25400">
            <a:solidFill>
              <a:srgbClr val="3A85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>
            <a:extLst>
              <a:ext uri="{FF2B5EF4-FFF2-40B4-BE49-F238E27FC236}">
                <a16:creationId xmlns:a16="http://schemas.microsoft.com/office/drawing/2014/main" id="{CB8A2DE7-E662-D2C3-600F-CB58EFA8704A}"/>
              </a:ext>
            </a:extLst>
          </p:cNvPr>
          <p:cNvCxnSpPr/>
          <p:nvPr/>
        </p:nvCxnSpPr>
        <p:spPr>
          <a:xfrm>
            <a:off x="13144500" y="8266176"/>
            <a:ext cx="0" cy="495604"/>
          </a:xfrm>
          <a:prstGeom prst="line">
            <a:avLst/>
          </a:prstGeom>
          <a:ln w="25400">
            <a:solidFill>
              <a:srgbClr val="1F3D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DA521726-01B3-22EF-A588-948702E2EB07}"/>
              </a:ext>
            </a:extLst>
          </p:cNvPr>
          <p:cNvCxnSpPr/>
          <p:nvPr/>
        </p:nvCxnSpPr>
        <p:spPr>
          <a:xfrm flipH="1">
            <a:off x="9144000" y="8761780"/>
            <a:ext cx="4000500" cy="0"/>
          </a:xfrm>
          <a:prstGeom prst="line">
            <a:avLst/>
          </a:prstGeom>
          <a:ln w="25400">
            <a:solidFill>
              <a:srgbClr val="1F3D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A7D64F96-9181-37AC-7902-C649B7BD2674}"/>
              </a:ext>
            </a:extLst>
          </p:cNvPr>
          <p:cNvCxnSpPr/>
          <p:nvPr/>
        </p:nvCxnSpPr>
        <p:spPr>
          <a:xfrm>
            <a:off x="9144000" y="8761780"/>
            <a:ext cx="0" cy="409652"/>
          </a:xfrm>
          <a:prstGeom prst="line">
            <a:avLst/>
          </a:prstGeom>
          <a:ln w="28575">
            <a:solidFill>
              <a:srgbClr val="1F3D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F60670FF-0E98-84A8-1CDB-F7F1DB1EDD1E}"/>
              </a:ext>
            </a:extLst>
          </p:cNvPr>
          <p:cNvSpPr/>
          <p:nvPr/>
        </p:nvSpPr>
        <p:spPr>
          <a:xfrm>
            <a:off x="5486400" y="9189720"/>
            <a:ext cx="7315200" cy="914400"/>
          </a:xfrm>
          <a:prstGeom prst="roundRect">
            <a:avLst>
              <a:gd name="adj" fmla="val 12000"/>
            </a:avLst>
          </a:prstGeom>
          <a:solidFill>
            <a:srgbClr val="3A85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2BC841-3D1E-7020-FDE3-45187BFA59CF}"/>
              </a:ext>
            </a:extLst>
          </p:cNvPr>
          <p:cNvSpPr txBox="1"/>
          <p:nvPr/>
        </p:nvSpPr>
        <p:spPr>
          <a:xfrm>
            <a:off x="5852160" y="9299448"/>
            <a:ext cx="6583680" cy="666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dirty="0">
                <a:solidFill>
                  <a:srgbClr val="FFFFFF"/>
                </a:solidFill>
                <a:latin typeface="Calibri"/>
              </a:rPr>
              <a:t>European Call Option Formula</a:t>
            </a:r>
          </a:p>
          <a:p>
            <a:pPr algn="ctr">
              <a:spcAft>
                <a:spcPts val="0"/>
              </a:spcAft>
            </a:pPr>
            <a:r>
              <a:rPr sz="1600" b="0" dirty="0">
                <a:solidFill>
                  <a:srgbClr val="E3EFE8"/>
                </a:solidFill>
                <a:latin typeface="Calibri"/>
              </a:rPr>
              <a:t>The closed-form solution is obtained by combining both approaches.</a:t>
            </a:r>
          </a:p>
        </p:txBody>
      </p:sp>
    </p:spTree>
    <p:extLst>
      <p:ext uri="{BB962C8B-B14F-4D97-AF65-F5344CB8AC3E}">
        <p14:creationId xmlns:p14="http://schemas.microsoft.com/office/powerpoint/2010/main" val="180506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04717" y="-820604"/>
            <a:ext cx="8377052" cy="11928208"/>
          </a:xfrm>
          <a:custGeom>
            <a:avLst/>
            <a:gdLst/>
            <a:ahLst/>
            <a:cxnLst/>
            <a:rect l="l" t="t" r="r" b="b"/>
            <a:pathLst>
              <a:path w="8377052" h="11928208">
                <a:moveTo>
                  <a:pt x="0" y="0"/>
                </a:moveTo>
                <a:lnTo>
                  <a:pt x="8377052" y="0"/>
                </a:lnTo>
                <a:lnTo>
                  <a:pt x="8377052" y="11928208"/>
                </a:lnTo>
                <a:lnTo>
                  <a:pt x="0" y="119282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95400" y="952500"/>
            <a:ext cx="8118599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4400" b="1" spc="-311" dirty="0">
                <a:solidFill>
                  <a:srgbClr val="3A855D"/>
                </a:solidFill>
                <a:latin typeface="Cambria" panose="02040503050406030204" pitchFamily="18" charset="0"/>
                <a:ea typeface="Cambria" panose="02040503050406030204" pitchFamily="18" charset="0"/>
                <a:cs typeface="Public Sans"/>
                <a:sym typeface="Public Sans"/>
              </a:rPr>
              <a:t>The European Call Option Formula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72702" y="1790700"/>
            <a:ext cx="7519837" cy="7330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3A855D"/>
                </a:solidFill>
                <a:latin typeface="Public Sans Medium" panose="020B0604020202020204" charset="0"/>
              </a:rPr>
              <a:t>The formula can be read as follows: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3A855D"/>
                </a:solidFill>
                <a:latin typeface="Public Sans Medium" panose="020B0604020202020204" charset="0"/>
              </a:rPr>
              <a:t>It has two terms because the payoff (Sₜ − K)⁺ is itself the difference of two components: what the holder expects to receive and what the holder expects to pay.</a:t>
            </a:r>
          </a:p>
          <a:p>
            <a:pPr lvl="0">
              <a:lnSpc>
                <a:spcPct val="150000"/>
              </a:lnSpc>
            </a:pPr>
            <a:endParaRPr lang="en-IN" sz="2000" b="1" dirty="0">
              <a:solidFill>
                <a:srgbClr val="3A855D"/>
              </a:solidFill>
              <a:latin typeface="Public Sans Medium" panose="020B0604020202020204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3A855D"/>
                </a:solidFill>
                <a:latin typeface="Public Sans Medium" panose="020B0604020202020204" charset="0"/>
              </a:rPr>
              <a:t>N(d₂) is the probability, under the risk-neutral measure, that the option finishes in the money — that is, that Sₜ &gt; K.</a:t>
            </a:r>
          </a:p>
          <a:p>
            <a:pPr lvl="0">
              <a:lnSpc>
                <a:spcPct val="150000"/>
              </a:lnSpc>
            </a:pPr>
            <a:endParaRPr lang="en-IN" sz="2000" b="1" dirty="0">
              <a:solidFill>
                <a:srgbClr val="3A855D"/>
              </a:solidFill>
              <a:latin typeface="Public Sans Medium" panose="020B0604020202020204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3A855D"/>
                </a:solidFill>
                <a:latin typeface="Public Sans Medium" panose="020B0604020202020204" charset="0"/>
              </a:rPr>
              <a:t>N(d₁) is a related but distinct weighting, reflecting that larger payouts occur alongside larger values of Sₜ ; it differs from N(d₂) by exactly </a:t>
            </a:r>
            <a:r>
              <a:rPr lang="en-IN" sz="2000" b="1" dirty="0" err="1">
                <a:solidFill>
                  <a:srgbClr val="3A855D"/>
                </a:solidFill>
                <a:latin typeface="Public Sans Medium" panose="020B0604020202020204" charset="0"/>
              </a:rPr>
              <a:t>σ√T</a:t>
            </a:r>
            <a:r>
              <a:rPr lang="en-IN" sz="2000" b="1" dirty="0">
                <a:solidFill>
                  <a:srgbClr val="3A855D"/>
                </a:solidFill>
                <a:latin typeface="Public Sans Medium" panose="020B0604020202020204" charset="0"/>
              </a:rPr>
              <a:t>, an echo of the </a:t>
            </a:r>
            <a:r>
              <a:rPr lang="en-IN" sz="2000" b="1" dirty="0" err="1">
                <a:solidFill>
                  <a:srgbClr val="3A855D"/>
                </a:solidFill>
                <a:latin typeface="Public Sans Medium" panose="020B0604020202020204" charset="0"/>
              </a:rPr>
              <a:t>Itô</a:t>
            </a:r>
            <a:r>
              <a:rPr lang="en-IN" sz="2000" b="1" dirty="0">
                <a:solidFill>
                  <a:srgbClr val="3A855D"/>
                </a:solidFill>
                <a:latin typeface="Public Sans Medium" panose="020B0604020202020204" charset="0"/>
              </a:rPr>
              <a:t> correction.</a:t>
            </a:r>
          </a:p>
          <a:p>
            <a:pPr lvl="0">
              <a:lnSpc>
                <a:spcPct val="150000"/>
              </a:lnSpc>
            </a:pPr>
            <a:endParaRPr lang="en-IN" sz="2000" b="1" dirty="0">
              <a:solidFill>
                <a:srgbClr val="3A855D"/>
              </a:solidFill>
              <a:latin typeface="Public Sans Medium" panose="020B0604020202020204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3A855D"/>
                </a:solidFill>
                <a:latin typeface="Public Sans Medium" panose="020B0604020202020204" charset="0"/>
              </a:rPr>
              <a:t>Discounting, </a:t>
            </a:r>
            <a:r>
              <a:rPr lang="en-IN" sz="2000" b="1" dirty="0" err="1">
                <a:solidFill>
                  <a:srgbClr val="3A855D"/>
                </a:solidFill>
                <a:latin typeface="Public Sans Medium" panose="020B0604020202020204" charset="0"/>
              </a:rPr>
              <a:t>e⁻ʳ</a:t>
            </a:r>
            <a:r>
              <a:rPr lang="en-IN" sz="2000" b="1" dirty="0">
                <a:solidFill>
                  <a:srgbClr val="3A855D"/>
                </a:solidFill>
                <a:latin typeface="Public Sans Medium" panose="020B0604020202020204" charset="0"/>
              </a:rPr>
              <a:t>ᵀ, applies only to K, because K is a fixed cash amount payable in the future and must be converted to a present value; S₀ is already expressed in present-value terms.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447630" y="-858580"/>
            <a:ext cx="314174" cy="12004159"/>
            <a:chOff x="0" y="0"/>
            <a:chExt cx="87993" cy="33620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7993" cy="3362084"/>
            </a:xfrm>
            <a:custGeom>
              <a:avLst/>
              <a:gdLst/>
              <a:ahLst/>
              <a:cxnLst/>
              <a:rect l="l" t="t" r="r" b="b"/>
              <a:pathLst>
                <a:path w="87993" h="3362084">
                  <a:moveTo>
                    <a:pt x="43996" y="0"/>
                  </a:moveTo>
                  <a:lnTo>
                    <a:pt x="43996" y="0"/>
                  </a:lnTo>
                  <a:cubicBezTo>
                    <a:pt x="68295" y="0"/>
                    <a:pt x="87993" y="19698"/>
                    <a:pt x="87993" y="43996"/>
                  </a:cubicBezTo>
                  <a:lnTo>
                    <a:pt x="87993" y="3318088"/>
                  </a:lnTo>
                  <a:cubicBezTo>
                    <a:pt x="87993" y="3342386"/>
                    <a:pt x="68295" y="3362084"/>
                    <a:pt x="43996" y="3362084"/>
                  </a:cubicBezTo>
                  <a:lnTo>
                    <a:pt x="43996" y="3362084"/>
                  </a:lnTo>
                  <a:cubicBezTo>
                    <a:pt x="19698" y="3362084"/>
                    <a:pt x="0" y="3342386"/>
                    <a:pt x="0" y="3318088"/>
                  </a:cubicBezTo>
                  <a:lnTo>
                    <a:pt x="0" y="43996"/>
                  </a:lnTo>
                  <a:cubicBezTo>
                    <a:pt x="0" y="19698"/>
                    <a:pt x="19698" y="0"/>
                    <a:pt x="43996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85725"/>
              <a:ext cx="87993" cy="3276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9119" y="914400"/>
            <a:ext cx="16002000" cy="8458200"/>
            <a:chOff x="0" y="0"/>
            <a:chExt cx="3791436" cy="19972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91436" cy="1997209"/>
            </a:xfrm>
            <a:custGeom>
              <a:avLst/>
              <a:gdLst/>
              <a:ahLst/>
              <a:cxnLst/>
              <a:rect l="l" t="t" r="r" b="b"/>
              <a:pathLst>
                <a:path w="3791436" h="1997209">
                  <a:moveTo>
                    <a:pt x="8067" y="0"/>
                  </a:moveTo>
                  <a:lnTo>
                    <a:pt x="3783369" y="0"/>
                  </a:lnTo>
                  <a:cubicBezTo>
                    <a:pt x="3785508" y="0"/>
                    <a:pt x="3787560" y="850"/>
                    <a:pt x="3789073" y="2363"/>
                  </a:cubicBezTo>
                  <a:cubicBezTo>
                    <a:pt x="3790586" y="3876"/>
                    <a:pt x="3791436" y="5927"/>
                    <a:pt x="3791436" y="8067"/>
                  </a:cubicBezTo>
                  <a:lnTo>
                    <a:pt x="3791436" y="1989142"/>
                  </a:lnTo>
                  <a:cubicBezTo>
                    <a:pt x="3791436" y="1991281"/>
                    <a:pt x="3790586" y="1993333"/>
                    <a:pt x="3789073" y="1994846"/>
                  </a:cubicBezTo>
                  <a:cubicBezTo>
                    <a:pt x="3787560" y="1996359"/>
                    <a:pt x="3785508" y="1997209"/>
                    <a:pt x="3783369" y="1997209"/>
                  </a:cubicBezTo>
                  <a:lnTo>
                    <a:pt x="8067" y="1997209"/>
                  </a:lnTo>
                  <a:cubicBezTo>
                    <a:pt x="5927" y="1997209"/>
                    <a:pt x="3876" y="1996359"/>
                    <a:pt x="2363" y="1994846"/>
                  </a:cubicBezTo>
                  <a:cubicBezTo>
                    <a:pt x="850" y="1993333"/>
                    <a:pt x="0" y="1991281"/>
                    <a:pt x="0" y="1989142"/>
                  </a:cubicBezTo>
                  <a:lnTo>
                    <a:pt x="0" y="8067"/>
                  </a:lnTo>
                  <a:cubicBezTo>
                    <a:pt x="0" y="5927"/>
                    <a:pt x="850" y="3876"/>
                    <a:pt x="2363" y="2363"/>
                  </a:cubicBezTo>
                  <a:cubicBezTo>
                    <a:pt x="3876" y="850"/>
                    <a:pt x="5927" y="0"/>
                    <a:pt x="8067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85725"/>
              <a:ext cx="3791436" cy="1911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244983" y="1427537"/>
            <a:ext cx="9993853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4400" b="1" spc="-311" dirty="0">
                <a:solidFill>
                  <a:srgbClr val="F1F0EC"/>
                </a:solidFill>
                <a:latin typeface="Cambria" panose="02040503050406030204" pitchFamily="18" charset="0"/>
                <a:ea typeface="Cambria" panose="02040503050406030204" pitchFamily="18" charset="0"/>
                <a:cs typeface="Public Sans"/>
                <a:sym typeface="Public Sans"/>
              </a:rPr>
              <a:t>A Simple Worked Example First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26228" y="2733577"/>
            <a:ext cx="13367779" cy="48198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2699"/>
              </a:lnSpc>
              <a:spcBef>
                <a:spcPct val="0"/>
              </a:spcBef>
            </a:pPr>
            <a:r>
              <a:rPr lang="en-US" sz="2000" b="1" spc="119" dirty="0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Before the real NIFTY numbers, a small hypothetical case illustrates the idea: </a:t>
            </a:r>
          </a:p>
          <a:p>
            <a:pPr lvl="0" algn="ctr">
              <a:lnSpc>
                <a:spcPts val="2699"/>
              </a:lnSpc>
              <a:spcBef>
                <a:spcPct val="0"/>
              </a:spcBef>
            </a:pPr>
            <a:r>
              <a:rPr lang="en-US" sz="2000" b="1" spc="119" dirty="0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 share at ₹100, strike ₹100, r=5%, σ=20%, T=1yr </a:t>
            </a:r>
          </a:p>
          <a:p>
            <a:pPr lvl="0" algn="ctr">
              <a:lnSpc>
                <a:spcPts val="2699"/>
              </a:lnSpc>
              <a:spcBef>
                <a:spcPct val="0"/>
              </a:spcBef>
            </a:pPr>
            <a:endParaRPr lang="en-US" sz="2000" b="1" spc="119" dirty="0">
              <a:solidFill>
                <a:srgbClr val="F1F0EC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lvl="0" algn="ctr">
              <a:lnSpc>
                <a:spcPts val="2699"/>
              </a:lnSpc>
              <a:spcBef>
                <a:spcPct val="0"/>
              </a:spcBef>
            </a:pPr>
            <a:endParaRPr lang="en-US" sz="2000" b="1" spc="119" dirty="0">
              <a:solidFill>
                <a:srgbClr val="F1F0EC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lvl="0" algn="ctr">
              <a:lnSpc>
                <a:spcPts val="2699"/>
              </a:lnSpc>
              <a:spcBef>
                <a:spcPct val="0"/>
              </a:spcBef>
            </a:pPr>
            <a:endParaRPr lang="en-US" sz="2000" b="1" spc="119" dirty="0">
              <a:solidFill>
                <a:srgbClr val="F1F0EC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lvl="0" algn="ctr">
              <a:lnSpc>
                <a:spcPts val="2699"/>
              </a:lnSpc>
              <a:spcBef>
                <a:spcPct val="0"/>
              </a:spcBef>
            </a:pPr>
            <a:endParaRPr lang="en-US" sz="2000" b="1" spc="119" dirty="0">
              <a:solidFill>
                <a:srgbClr val="F1F0EC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lvl="0" algn="ctr">
              <a:lnSpc>
                <a:spcPts val="2699"/>
              </a:lnSpc>
              <a:spcBef>
                <a:spcPct val="0"/>
              </a:spcBef>
            </a:pPr>
            <a:endParaRPr lang="en-US" sz="2000" b="1" spc="119" dirty="0">
              <a:solidFill>
                <a:srgbClr val="F1F0EC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lvl="0" algn="ctr">
              <a:lnSpc>
                <a:spcPts val="2699"/>
              </a:lnSpc>
              <a:spcBef>
                <a:spcPct val="0"/>
              </a:spcBef>
            </a:pPr>
            <a:endParaRPr lang="en-US" sz="2000" b="1" spc="119" dirty="0">
              <a:solidFill>
                <a:srgbClr val="F1F0EC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lvl="0" algn="ctr">
              <a:lnSpc>
                <a:spcPts val="2699"/>
              </a:lnSpc>
              <a:spcBef>
                <a:spcPct val="0"/>
              </a:spcBef>
            </a:pPr>
            <a:endParaRPr lang="en-US" sz="2000" b="1" spc="119" dirty="0">
              <a:solidFill>
                <a:srgbClr val="F1F0EC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lvl="0" algn="ctr">
              <a:lnSpc>
                <a:spcPts val="2699"/>
              </a:lnSpc>
              <a:spcBef>
                <a:spcPct val="0"/>
              </a:spcBef>
            </a:pPr>
            <a:endParaRPr lang="en-US" sz="2000" b="1" spc="119" dirty="0">
              <a:solidFill>
                <a:srgbClr val="F1F0EC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lvl="0" algn="ctr">
              <a:lnSpc>
                <a:spcPts val="2699"/>
              </a:lnSpc>
              <a:spcBef>
                <a:spcPct val="0"/>
              </a:spcBef>
            </a:pPr>
            <a:endParaRPr lang="en-US" sz="2000" b="1" spc="119" dirty="0">
              <a:solidFill>
                <a:srgbClr val="F1F0EC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lvl="0" algn="ctr">
              <a:lnSpc>
                <a:spcPts val="2699"/>
              </a:lnSpc>
              <a:spcBef>
                <a:spcPct val="0"/>
              </a:spcBef>
            </a:pPr>
            <a:endParaRPr lang="en-US" sz="2000" b="1" spc="119" dirty="0">
              <a:solidFill>
                <a:srgbClr val="F1F0EC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lvl="0" algn="ctr">
              <a:lnSpc>
                <a:spcPts val="2699"/>
              </a:lnSpc>
              <a:spcBef>
                <a:spcPct val="0"/>
              </a:spcBef>
            </a:pPr>
            <a:r>
              <a:rPr lang="en-US" sz="2000" b="1" spc="119" dirty="0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 ≈ ₹10.45.</a:t>
            </a:r>
          </a:p>
          <a:p>
            <a:pPr lvl="0" algn="ctr">
              <a:lnSpc>
                <a:spcPts val="2699"/>
              </a:lnSpc>
              <a:spcBef>
                <a:spcPct val="0"/>
              </a:spcBef>
            </a:pPr>
            <a:endParaRPr lang="en-US" sz="2000" b="1" spc="119" dirty="0">
              <a:solidFill>
                <a:srgbClr val="F1F0EC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20DF36F-1F88-1A45-6C0C-A978374CE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398986"/>
              </p:ext>
            </p:extLst>
          </p:nvPr>
        </p:nvGraphicFramePr>
        <p:xfrm>
          <a:off x="2983984" y="3756758"/>
          <a:ext cx="12515850" cy="39615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9186">
                  <a:extLst>
                    <a:ext uri="{9D8B030D-6E8A-4147-A177-3AD203B41FA5}">
                      <a16:colId xmlns:a16="http://schemas.microsoft.com/office/drawing/2014/main" val="3078972095"/>
                    </a:ext>
                  </a:extLst>
                </a:gridCol>
                <a:gridCol w="7079673">
                  <a:extLst>
                    <a:ext uri="{9D8B030D-6E8A-4147-A177-3AD203B41FA5}">
                      <a16:colId xmlns:a16="http://schemas.microsoft.com/office/drawing/2014/main" val="2156202939"/>
                    </a:ext>
                  </a:extLst>
                </a:gridCol>
                <a:gridCol w="3286991">
                  <a:extLst>
                    <a:ext uri="{9D8B030D-6E8A-4147-A177-3AD203B41FA5}">
                      <a16:colId xmlns:a16="http://schemas.microsoft.com/office/drawing/2014/main" val="3895836825"/>
                    </a:ext>
                  </a:extLst>
                </a:gridCol>
              </a:tblGrid>
              <a:tr h="660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rgbClr val="3A855D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Step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rgbClr val="3A855D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Calculation</a:t>
                      </a: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rgbClr val="3A855D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Result</a:t>
                      </a: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3428734791"/>
                  </a:ext>
                </a:extLst>
              </a:tr>
              <a:tr h="660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solidFill>
                            <a:srgbClr val="3A855D"/>
                          </a:solidFill>
                          <a:effectLst/>
                          <a:latin typeface="Public Sans Medium" panose="020B0604020202020204" charset="0"/>
                        </a:rPr>
                        <a:t>d₁</a:t>
                      </a:r>
                      <a:endParaRPr lang="en-IN" sz="2400" b="1">
                        <a:solidFill>
                          <a:srgbClr val="3A855D"/>
                        </a:solidFill>
                        <a:effectLst/>
                        <a:latin typeface="Public Sans Medium" panose="020B060402020202020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solidFill>
                            <a:srgbClr val="3A855D"/>
                          </a:solidFill>
                          <a:effectLst/>
                          <a:latin typeface="Public Sans Medium" panose="020B0604020202020204" charset="0"/>
                        </a:rPr>
                        <a:t>[ln(100/100) + (0.05 + 0.02)(1)] / 0.20</a:t>
                      </a:r>
                      <a:endParaRPr lang="en-IN" sz="2400" b="1">
                        <a:solidFill>
                          <a:srgbClr val="3A855D"/>
                        </a:solidFill>
                        <a:effectLst/>
                        <a:latin typeface="Public Sans Medium" panose="020B060402020202020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solidFill>
                            <a:srgbClr val="3A855D"/>
                          </a:solidFill>
                          <a:effectLst/>
                          <a:latin typeface="Public Sans Medium" panose="020B0604020202020204" charset="0"/>
                        </a:rPr>
                        <a:t>0.35</a:t>
                      </a:r>
                      <a:endParaRPr lang="en-IN" sz="2400" b="1">
                        <a:solidFill>
                          <a:srgbClr val="3A855D"/>
                        </a:solidFill>
                        <a:effectLst/>
                        <a:latin typeface="Public Sans Medium" panose="020B060402020202020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1753217901"/>
                  </a:ext>
                </a:extLst>
              </a:tr>
              <a:tr h="660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solidFill>
                            <a:srgbClr val="3A855D"/>
                          </a:solidFill>
                          <a:effectLst/>
                          <a:latin typeface="Public Sans Medium" panose="020B0604020202020204" charset="0"/>
                        </a:rPr>
                        <a:t>d₂</a:t>
                      </a:r>
                      <a:endParaRPr lang="en-IN" sz="2400" b="1">
                        <a:solidFill>
                          <a:srgbClr val="3A855D"/>
                        </a:solidFill>
                        <a:effectLst/>
                        <a:latin typeface="Public Sans Medium" panose="020B060402020202020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rgbClr val="3A855D"/>
                          </a:solidFill>
                          <a:effectLst/>
                          <a:latin typeface="Public Sans Medium" panose="020B0604020202020204" charset="0"/>
                        </a:rPr>
                        <a:t>0.35 − 0.20</a:t>
                      </a:r>
                      <a:endParaRPr lang="en-IN" sz="2400" b="1" dirty="0">
                        <a:solidFill>
                          <a:srgbClr val="3A855D"/>
                        </a:solidFill>
                        <a:effectLst/>
                        <a:latin typeface="Public Sans Medium" panose="020B060402020202020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solidFill>
                            <a:srgbClr val="3A855D"/>
                          </a:solidFill>
                          <a:effectLst/>
                          <a:latin typeface="Public Sans Medium" panose="020B0604020202020204" charset="0"/>
                        </a:rPr>
                        <a:t>0.15</a:t>
                      </a:r>
                      <a:endParaRPr lang="en-IN" sz="2400" b="1">
                        <a:solidFill>
                          <a:srgbClr val="3A855D"/>
                        </a:solidFill>
                        <a:effectLst/>
                        <a:latin typeface="Public Sans Medium" panose="020B060402020202020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3188994457"/>
                  </a:ext>
                </a:extLst>
              </a:tr>
              <a:tr h="660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solidFill>
                            <a:srgbClr val="3A855D"/>
                          </a:solidFill>
                          <a:effectLst/>
                          <a:latin typeface="Public Sans Medium" panose="020B0604020202020204" charset="0"/>
                        </a:rPr>
                        <a:t>N(d₁)</a:t>
                      </a:r>
                      <a:endParaRPr lang="en-IN" sz="2400" b="1">
                        <a:solidFill>
                          <a:srgbClr val="3A855D"/>
                        </a:solidFill>
                        <a:effectLst/>
                        <a:latin typeface="Public Sans Medium" panose="020B060402020202020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rgbClr val="3A855D"/>
                          </a:solidFill>
                          <a:effectLst/>
                          <a:latin typeface="Public Sans Medium" panose="020B0604020202020204" charset="0"/>
                        </a:rPr>
                        <a:t>standard normal table</a:t>
                      </a:r>
                      <a:endParaRPr lang="en-IN" sz="2400" b="1" dirty="0">
                        <a:solidFill>
                          <a:srgbClr val="3A855D"/>
                        </a:solidFill>
                        <a:effectLst/>
                        <a:latin typeface="Public Sans Medium" panose="020B060402020202020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rgbClr val="3A855D"/>
                          </a:solidFill>
                          <a:effectLst/>
                          <a:latin typeface="Public Sans Medium" panose="020B0604020202020204" charset="0"/>
                        </a:rPr>
                        <a:t>0.6368</a:t>
                      </a:r>
                      <a:endParaRPr lang="en-IN" sz="2400" b="1" dirty="0">
                        <a:solidFill>
                          <a:srgbClr val="3A855D"/>
                        </a:solidFill>
                        <a:effectLst/>
                        <a:latin typeface="Public Sans Medium" panose="020B060402020202020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3889188650"/>
                  </a:ext>
                </a:extLst>
              </a:tr>
              <a:tr h="660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solidFill>
                            <a:srgbClr val="3A855D"/>
                          </a:solidFill>
                          <a:effectLst/>
                          <a:latin typeface="Public Sans Medium" panose="020B0604020202020204" charset="0"/>
                        </a:rPr>
                        <a:t>N(d₂)</a:t>
                      </a:r>
                      <a:endParaRPr lang="en-IN" sz="2400" b="1">
                        <a:solidFill>
                          <a:srgbClr val="3A855D"/>
                        </a:solidFill>
                        <a:effectLst/>
                        <a:latin typeface="Public Sans Medium" panose="020B060402020202020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solidFill>
                            <a:srgbClr val="3A855D"/>
                          </a:solidFill>
                          <a:effectLst/>
                          <a:latin typeface="Public Sans Medium" panose="020B0604020202020204" charset="0"/>
                        </a:rPr>
                        <a:t>standard normal table</a:t>
                      </a:r>
                      <a:endParaRPr lang="en-IN" sz="2400" b="1">
                        <a:solidFill>
                          <a:srgbClr val="3A855D"/>
                        </a:solidFill>
                        <a:effectLst/>
                        <a:latin typeface="Public Sans Medium" panose="020B060402020202020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solidFill>
                            <a:srgbClr val="3A855D"/>
                          </a:solidFill>
                          <a:effectLst/>
                          <a:latin typeface="Public Sans Medium" panose="020B0604020202020204" charset="0"/>
                        </a:rPr>
                        <a:t>0.5596</a:t>
                      </a:r>
                      <a:endParaRPr lang="en-IN" sz="2400" b="1">
                        <a:solidFill>
                          <a:srgbClr val="3A855D"/>
                        </a:solidFill>
                        <a:effectLst/>
                        <a:latin typeface="Public Sans Medium" panose="020B060402020202020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1055169515"/>
                  </a:ext>
                </a:extLst>
              </a:tr>
              <a:tr h="660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solidFill>
                            <a:srgbClr val="3A855D"/>
                          </a:solidFill>
                          <a:effectLst/>
                          <a:latin typeface="Public Sans Medium" panose="020B0604020202020204" charset="0"/>
                        </a:rPr>
                        <a:t>C</a:t>
                      </a:r>
                      <a:endParaRPr lang="en-IN" sz="2400" b="1">
                        <a:solidFill>
                          <a:srgbClr val="3A855D"/>
                        </a:solidFill>
                        <a:effectLst/>
                        <a:latin typeface="Public Sans Medium" panose="020B060402020202020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rgbClr val="3A855D"/>
                          </a:solidFill>
                          <a:effectLst/>
                          <a:latin typeface="Public Sans Medium" panose="020B0604020202020204" charset="0"/>
                        </a:rPr>
                        <a:t>100(0.6368) − 100e⁻⁰·⁰⁵(0.5596)</a:t>
                      </a:r>
                      <a:endParaRPr lang="en-IN" sz="2400" b="1" dirty="0">
                        <a:solidFill>
                          <a:srgbClr val="3A855D"/>
                        </a:solidFill>
                        <a:effectLst/>
                        <a:latin typeface="Public Sans Medium" panose="020B060402020202020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rgbClr val="3A855D"/>
                          </a:solidFill>
                          <a:effectLst/>
                          <a:latin typeface="Public Sans Medium" panose="020B0604020202020204" charset="0"/>
                        </a:rPr>
                        <a:t>≈ ₹10.45</a:t>
                      </a:r>
                      <a:endParaRPr lang="en-IN" sz="2400" b="1" dirty="0">
                        <a:solidFill>
                          <a:srgbClr val="3A855D"/>
                        </a:solidFill>
                        <a:effectLst/>
                        <a:latin typeface="Public Sans Medium" panose="020B060402020202020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107452860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6F8ECF4-1F95-AF31-DCDE-8BA193667B65}"/>
              </a:ext>
            </a:extLst>
          </p:cNvPr>
          <p:cNvSpPr txBox="1"/>
          <p:nvPr/>
        </p:nvSpPr>
        <p:spPr>
          <a:xfrm>
            <a:off x="2452371" y="8172271"/>
            <a:ext cx="135154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pc="119" dirty="0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 useful check: if σ were 0 — the share never moved — the option would be worth exactly ₹0, </a:t>
            </a:r>
          </a:p>
          <a:p>
            <a:r>
              <a:rPr lang="en-US" b="1" spc="119" dirty="0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since the payoff would always be zero. </a:t>
            </a:r>
          </a:p>
          <a:p>
            <a:r>
              <a:rPr lang="en-US" b="1" spc="119" dirty="0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The fact that C rises to ₹10.45 purely from σ=20% confirms the entire value is compensation for uncertainty.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71DA89F-AF96-8C86-DC8F-08865EAAB362}"/>
              </a:ext>
            </a:extLst>
          </p:cNvPr>
          <p:cNvGrpSpPr/>
          <p:nvPr/>
        </p:nvGrpSpPr>
        <p:grpSpPr>
          <a:xfrm>
            <a:off x="914399" y="723902"/>
            <a:ext cx="16611601" cy="8878552"/>
            <a:chOff x="-271749" y="-165405"/>
            <a:chExt cx="4375072" cy="233838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47C61CC-07C4-1FAE-4F6D-0D3828648B0D}"/>
                </a:ext>
              </a:extLst>
            </p:cNvPr>
            <p:cNvSpPr/>
            <p:nvPr/>
          </p:nvSpPr>
          <p:spPr>
            <a:xfrm>
              <a:off x="-271749" y="-165405"/>
              <a:ext cx="4375072" cy="2338384"/>
            </a:xfrm>
            <a:custGeom>
              <a:avLst/>
              <a:gdLst/>
              <a:ahLst/>
              <a:cxnLst/>
              <a:rect l="l" t="t" r="r" b="b"/>
              <a:pathLst>
                <a:path w="3791436" h="1997209">
                  <a:moveTo>
                    <a:pt x="8067" y="0"/>
                  </a:moveTo>
                  <a:lnTo>
                    <a:pt x="3783369" y="0"/>
                  </a:lnTo>
                  <a:cubicBezTo>
                    <a:pt x="3785508" y="0"/>
                    <a:pt x="3787560" y="850"/>
                    <a:pt x="3789073" y="2363"/>
                  </a:cubicBezTo>
                  <a:cubicBezTo>
                    <a:pt x="3790586" y="3876"/>
                    <a:pt x="3791436" y="5927"/>
                    <a:pt x="3791436" y="8067"/>
                  </a:cubicBezTo>
                  <a:lnTo>
                    <a:pt x="3791436" y="1989142"/>
                  </a:lnTo>
                  <a:cubicBezTo>
                    <a:pt x="3791436" y="1991281"/>
                    <a:pt x="3790586" y="1993333"/>
                    <a:pt x="3789073" y="1994846"/>
                  </a:cubicBezTo>
                  <a:cubicBezTo>
                    <a:pt x="3787560" y="1996359"/>
                    <a:pt x="3785508" y="1997209"/>
                    <a:pt x="3783369" y="1997209"/>
                  </a:cubicBezTo>
                  <a:lnTo>
                    <a:pt x="8067" y="1997209"/>
                  </a:lnTo>
                  <a:cubicBezTo>
                    <a:pt x="5927" y="1997209"/>
                    <a:pt x="3876" y="1996359"/>
                    <a:pt x="2363" y="1994846"/>
                  </a:cubicBezTo>
                  <a:cubicBezTo>
                    <a:pt x="850" y="1993333"/>
                    <a:pt x="0" y="1991281"/>
                    <a:pt x="0" y="1989142"/>
                  </a:cubicBezTo>
                  <a:lnTo>
                    <a:pt x="0" y="8067"/>
                  </a:lnTo>
                  <a:cubicBezTo>
                    <a:pt x="0" y="5927"/>
                    <a:pt x="850" y="3876"/>
                    <a:pt x="2363" y="2363"/>
                  </a:cubicBezTo>
                  <a:cubicBezTo>
                    <a:pt x="3876" y="850"/>
                    <a:pt x="5927" y="0"/>
                    <a:pt x="8067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7071054-9777-10A3-1EE0-6F1DD53A14FE}"/>
                </a:ext>
              </a:extLst>
            </p:cNvPr>
            <p:cNvSpPr txBox="1"/>
            <p:nvPr/>
          </p:nvSpPr>
          <p:spPr>
            <a:xfrm>
              <a:off x="0" y="85725"/>
              <a:ext cx="3791436" cy="1911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584FC721-9FC1-48AD-28A8-88A402E95A5E}"/>
              </a:ext>
            </a:extLst>
          </p:cNvPr>
          <p:cNvSpPr txBox="1"/>
          <p:nvPr/>
        </p:nvSpPr>
        <p:spPr>
          <a:xfrm>
            <a:off x="3906611" y="1351923"/>
            <a:ext cx="10627176" cy="639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 b="1" spc="-36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  <a:cs typeface="Public Sans"/>
                <a:sym typeface="Public Sans"/>
              </a:rPr>
              <a:t>Application in NIFTY 50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10A2FEF-C397-98FE-D9F1-999A8BD63F7B}"/>
              </a:ext>
            </a:extLst>
          </p:cNvPr>
          <p:cNvSpPr txBox="1"/>
          <p:nvPr/>
        </p:nvSpPr>
        <p:spPr>
          <a:xfrm>
            <a:off x="1524000" y="2440845"/>
            <a:ext cx="15316200" cy="3544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2000" b="1" u="none" spc="119" dirty="0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This is the final numerical part of the seminar: we take real NIFTY 50 data, walk through every step of the Black–Scholes calculation using it, and compare the model's price to the price at which an option actually traded.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2"/>
                </a:solidFill>
                <a:latin typeface="Public Sans Medium" panose="020B0604020202020204" charset="0"/>
              </a:rPr>
              <a:t>NIFTY 50 daily price history — one row per trading day (date, open, high, low, close, volume), covering 10-Sep-2025 to 10-Sep-2026, 248 trading days in total.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2"/>
                </a:solidFill>
                <a:latin typeface="Public Sans Medium" panose="020B0604020202020204" charset="0"/>
              </a:rPr>
              <a:t>A NIFTY 50 call option record — one row giving the strike price, market closing price, underlying NIFTY value, option date and expiry date for a specific option contract traded on 31-Aug-2026.</a:t>
            </a:r>
            <a:endParaRPr lang="en-US" sz="2000" b="1" u="none" spc="119" dirty="0">
              <a:solidFill>
                <a:schemeClr val="bg2"/>
              </a:solidFill>
              <a:latin typeface="Public Sans Medium" panose="020B0604020202020204" charset="0"/>
              <a:ea typeface="Public Sans Medium"/>
              <a:cs typeface="Public Sans Medium"/>
              <a:sym typeface="Public Sans Medium"/>
            </a:endParaRP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endParaRPr lang="en-US" sz="2000" b="1" u="none" spc="119" dirty="0">
              <a:solidFill>
                <a:srgbClr val="F1F0EC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DE7F00D-75B5-D9DC-15BF-44F070881D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954273"/>
              </p:ext>
            </p:extLst>
          </p:nvPr>
        </p:nvGraphicFramePr>
        <p:xfrm>
          <a:off x="1946196" y="5753100"/>
          <a:ext cx="14665404" cy="321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32702">
                  <a:extLst>
                    <a:ext uri="{9D8B030D-6E8A-4147-A177-3AD203B41FA5}">
                      <a16:colId xmlns:a16="http://schemas.microsoft.com/office/drawing/2014/main" val="3197335638"/>
                    </a:ext>
                  </a:extLst>
                </a:gridCol>
                <a:gridCol w="7332702">
                  <a:extLst>
                    <a:ext uri="{9D8B030D-6E8A-4147-A177-3AD203B41FA5}">
                      <a16:colId xmlns:a16="http://schemas.microsoft.com/office/drawing/2014/main" val="710315267"/>
                    </a:ext>
                  </a:extLst>
                </a:gridCol>
              </a:tblGrid>
              <a:tr h="573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Item</a:t>
                      </a:r>
                      <a:endParaRPr lang="en-IN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Value</a:t>
                      </a:r>
                      <a:endParaRPr lang="en-IN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/>
                </a:tc>
                <a:extLst>
                  <a:ext uri="{0D108BD9-81ED-4DB2-BD59-A6C34878D82A}">
                    <a16:rowId xmlns:a16="http://schemas.microsoft.com/office/drawing/2014/main" val="246722542"/>
                  </a:ext>
                </a:extLst>
              </a:tr>
              <a:tr h="521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Underlying NIFTY spot price (S)</a:t>
                      </a:r>
                      <a:endParaRPr lang="en-IN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₹24,080.40</a:t>
                      </a:r>
                      <a:endParaRPr lang="en-IN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383591812"/>
                  </a:ext>
                </a:extLst>
              </a:tr>
              <a:tr h="521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Strike price (K)</a:t>
                      </a:r>
                      <a:endParaRPr lang="en-IN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₹24,100.00</a:t>
                      </a:r>
                      <a:endParaRPr lang="en-IN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680123817"/>
                  </a:ext>
                </a:extLst>
              </a:tr>
              <a:tr h="521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Observed market price of the call (C market)</a:t>
                      </a:r>
                      <a:endParaRPr lang="en-IN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₹543.00</a:t>
                      </a:r>
                      <a:endParaRPr lang="en-IN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979836400"/>
                  </a:ext>
                </a:extLst>
              </a:tr>
              <a:tr h="521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Option date</a:t>
                      </a:r>
                      <a:endParaRPr lang="en-IN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31-Aug-2026</a:t>
                      </a:r>
                      <a:endParaRPr lang="en-IN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566614697"/>
                  </a:ext>
                </a:extLst>
              </a:tr>
              <a:tr h="521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Expiry date</a:t>
                      </a:r>
                      <a:endParaRPr lang="en-IN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27-Oct-2026</a:t>
                      </a:r>
                      <a:endParaRPr lang="en-IN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471804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1959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2741" y="800631"/>
            <a:ext cx="9105900" cy="638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dirty="0">
                <a:solidFill>
                  <a:srgbClr val="3A855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Empirical Analysis of Market Data</a:t>
            </a:r>
            <a:endParaRPr lang="en-US" sz="4400" b="1" spc="-360" dirty="0">
              <a:solidFill>
                <a:srgbClr val="3A855D"/>
              </a:solidFill>
              <a:latin typeface="Cambria" panose="02040503050406030204" pitchFamily="18" charset="0"/>
              <a:ea typeface="Cambria" panose="02040503050406030204" pitchFamily="18" charset="0"/>
              <a:cs typeface="Public Sans"/>
              <a:sym typeface="Public Sans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162565" y="1779617"/>
            <a:ext cx="8000890" cy="2366543"/>
            <a:chOff x="0" y="0"/>
            <a:chExt cx="1102601" cy="13967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02601" cy="1396725"/>
            </a:xfrm>
            <a:custGeom>
              <a:avLst/>
              <a:gdLst/>
              <a:ahLst/>
              <a:cxnLst/>
              <a:rect l="l" t="t" r="r" b="b"/>
              <a:pathLst>
                <a:path w="1102601" h="1396725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31359" y="2255879"/>
            <a:ext cx="7056178" cy="1328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2"/>
                </a:solidFill>
                <a:latin typeface="Public Sans Medium" panose="020B0604020202020204" charset="0"/>
              </a:rPr>
              <a:t>How the NIFTY 50 index has moved.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2"/>
                </a:solidFill>
                <a:latin typeface="Public Sans Medium" panose="020B0604020202020204" charset="0"/>
              </a:rPr>
              <a:t>The graph plots the daily closing price for the full one-year period, with the option date marked.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279047" y="5474308"/>
            <a:ext cx="7921940" cy="3610249"/>
            <a:chOff x="0" y="0"/>
            <a:chExt cx="1102601" cy="13967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02601" cy="1396725"/>
            </a:xfrm>
            <a:custGeom>
              <a:avLst/>
              <a:gdLst/>
              <a:ahLst/>
              <a:cxnLst/>
              <a:rect l="l" t="t" r="r" b="b"/>
              <a:pathLst>
                <a:path w="1102601" h="1396725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7"/>
              <p:cNvSpPr txBox="1"/>
              <p:nvPr/>
            </p:nvSpPr>
            <p:spPr>
              <a:xfrm>
                <a:off x="9982200" y="6494384"/>
                <a:ext cx="7085124" cy="270965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400" b="1" dirty="0">
                    <a:solidFill>
                      <a:schemeClr val="bg2"/>
                    </a:solidFill>
                    <a:latin typeface="Public Sans Medium" panose="020B0604020202020204" charset="0"/>
                  </a:rPr>
                  <a:t>r(t) 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en-US" sz="2400" b="1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en-US" sz="2400" b="1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𝒍𝒏</m:t>
                        </m:r>
                      </m:fName>
                      <m:e>
                        <m:d>
                          <m:dPr>
                            <m:ctrlPr>
                              <a:rPr lang="en-US" altLang="en-US" sz="2400" b="1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en-US" sz="2400" b="1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alt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alt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  <m:r>
                                      <a:rPr lang="en-US" alt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altLang="en-US" sz="2400" b="1" dirty="0">
                  <a:solidFill>
                    <a:schemeClr val="bg2"/>
                  </a:solidFill>
                  <a:latin typeface="Arial Black" panose="020B0A040201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000" b="1" dirty="0">
                  <a:solidFill>
                    <a:schemeClr val="bg2"/>
                  </a:solidFill>
                  <a:latin typeface="Public Sans Medium" panose="020B060402020202020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000" b="1" dirty="0">
                    <a:solidFill>
                      <a:schemeClr val="bg2"/>
                    </a:solidFill>
                    <a:latin typeface="Public Sans Medium" panose="020B0604020202020204" charset="0"/>
                  </a:rPr>
                  <a:t>Variables: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altLang="en-US" sz="2000" b="1" dirty="0">
                    <a:solidFill>
                      <a:schemeClr val="bg2"/>
                    </a:solidFill>
                    <a:latin typeface="Public Sans Medium" panose="020B0604020202020204" charset="0"/>
                  </a:rPr>
                  <a:t>r(t) = Logarithmic return at time t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b="1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1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en-US" sz="2000" b="1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altLang="en-US" sz="2000" b="1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000" b="1" dirty="0">
                    <a:solidFill>
                      <a:schemeClr val="bg2"/>
                    </a:solidFill>
                    <a:latin typeface="Public Sans Medium" panose="020B0604020202020204" charset="0"/>
                  </a:rPr>
                  <a:t>= Price today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b="1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1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en-US" sz="2000" b="1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en-US" sz="2000" b="1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2000" b="1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en-US" sz="2000" b="1" dirty="0">
                    <a:solidFill>
                      <a:schemeClr val="bg2"/>
                    </a:solidFill>
                    <a:latin typeface="Public Sans Medium" panose="020B0604020202020204" charset="0"/>
                  </a:rPr>
                  <a:t> = Price yesterday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000" b="1" dirty="0">
                  <a:solidFill>
                    <a:schemeClr val="bg2"/>
                  </a:solidFill>
                  <a:latin typeface="Public Sans Medium" panose="020B0604020202020204" charset="0"/>
                </a:endParaRPr>
              </a:p>
              <a:p>
                <a:pPr marL="0" lvl="0" indent="0" algn="l">
                  <a:lnSpc>
                    <a:spcPts val="2295"/>
                  </a:lnSpc>
                  <a:spcBef>
                    <a:spcPct val="0"/>
                  </a:spcBef>
                </a:pPr>
                <a:endParaRPr lang="en-US" b="1" u="none" spc="86" dirty="0">
                  <a:solidFill>
                    <a:schemeClr val="bg2"/>
                  </a:solidFill>
                  <a:latin typeface="Public Sans Medium" panose="020B0604020202020204" charset="0"/>
                  <a:ea typeface="Public Sans Medium"/>
                  <a:cs typeface="Public Sans Medium"/>
                  <a:sym typeface="Public Sans Medium"/>
                </a:endParaRPr>
              </a:p>
            </p:txBody>
          </p:sp>
        </mc:Choice>
        <mc:Fallback xmlns="">
          <p:sp>
            <p:nvSpPr>
              <p:cNvPr id="17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200" y="6494384"/>
                <a:ext cx="7085124" cy="2709653"/>
              </a:xfrm>
              <a:prstGeom prst="rect">
                <a:avLst/>
              </a:prstGeom>
              <a:blipFill>
                <a:blip r:embed="rId2"/>
                <a:stretch>
                  <a:fillRect l="-2238" t="-2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8"/>
          <p:cNvSpPr txBox="1"/>
          <p:nvPr/>
        </p:nvSpPr>
        <p:spPr>
          <a:xfrm>
            <a:off x="9982200" y="5659681"/>
            <a:ext cx="5715575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2000" b="1" dirty="0">
                <a:solidFill>
                  <a:schemeClr val="bg2"/>
                </a:solidFill>
                <a:latin typeface="Public Sans Medium" panose="020B0604020202020204" charset="0"/>
              </a:rPr>
              <a:t>How spread out these values are is exactly what we mean by "volatility”.</a:t>
            </a:r>
            <a:endParaRPr lang="en-US" sz="3600" b="1" spc="-266" dirty="0">
              <a:solidFill>
                <a:schemeClr val="bg2"/>
              </a:solidFill>
              <a:latin typeface="Public Sans Medium" panose="020B0604020202020204" charset="0"/>
              <a:ea typeface="Public Sans"/>
              <a:cs typeface="Public Sans"/>
              <a:sym typeface="Public Sans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19B465C-3821-4383-7D88-3D34D0F090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513615" y="1004872"/>
            <a:ext cx="8774385" cy="396690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DEE93EA-2D33-3EB1-0D46-3ECA8CAC55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834" y="5143500"/>
            <a:ext cx="9320807" cy="4235656"/>
          </a:xfrm>
          <a:prstGeom prst="rect">
            <a:avLst/>
          </a:prstGeom>
        </p:spPr>
      </p:pic>
      <p:grpSp>
        <p:nvGrpSpPr>
          <p:cNvPr id="28" name="Group 5">
            <a:extLst>
              <a:ext uri="{FF2B5EF4-FFF2-40B4-BE49-F238E27FC236}">
                <a16:creationId xmlns:a16="http://schemas.microsoft.com/office/drawing/2014/main" id="{09C40C49-9C2E-2FD6-0EAC-59484D72CAC2}"/>
              </a:ext>
            </a:extLst>
          </p:cNvPr>
          <p:cNvGrpSpPr/>
          <p:nvPr/>
        </p:nvGrpSpPr>
        <p:grpSpPr>
          <a:xfrm>
            <a:off x="9121960" y="-680810"/>
            <a:ext cx="314174" cy="12004159"/>
            <a:chOff x="0" y="0"/>
            <a:chExt cx="87993" cy="3362084"/>
          </a:xfrm>
        </p:grpSpPr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233214BB-986A-0DF5-5BB8-14C67C022BF9}"/>
                </a:ext>
              </a:extLst>
            </p:cNvPr>
            <p:cNvSpPr/>
            <p:nvPr/>
          </p:nvSpPr>
          <p:spPr>
            <a:xfrm>
              <a:off x="0" y="0"/>
              <a:ext cx="87993" cy="3362084"/>
            </a:xfrm>
            <a:custGeom>
              <a:avLst/>
              <a:gdLst/>
              <a:ahLst/>
              <a:cxnLst/>
              <a:rect l="l" t="t" r="r" b="b"/>
              <a:pathLst>
                <a:path w="87993" h="3362084">
                  <a:moveTo>
                    <a:pt x="43996" y="0"/>
                  </a:moveTo>
                  <a:lnTo>
                    <a:pt x="43996" y="0"/>
                  </a:lnTo>
                  <a:cubicBezTo>
                    <a:pt x="68295" y="0"/>
                    <a:pt x="87993" y="19698"/>
                    <a:pt x="87993" y="43996"/>
                  </a:cubicBezTo>
                  <a:lnTo>
                    <a:pt x="87993" y="3318088"/>
                  </a:lnTo>
                  <a:cubicBezTo>
                    <a:pt x="87993" y="3342386"/>
                    <a:pt x="68295" y="3362084"/>
                    <a:pt x="43996" y="3362084"/>
                  </a:cubicBezTo>
                  <a:lnTo>
                    <a:pt x="43996" y="3362084"/>
                  </a:lnTo>
                  <a:cubicBezTo>
                    <a:pt x="19698" y="3362084"/>
                    <a:pt x="0" y="3342386"/>
                    <a:pt x="0" y="3318088"/>
                  </a:cubicBezTo>
                  <a:lnTo>
                    <a:pt x="0" y="43996"/>
                  </a:lnTo>
                  <a:cubicBezTo>
                    <a:pt x="0" y="19698"/>
                    <a:pt x="19698" y="0"/>
                    <a:pt x="43996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30" name="TextBox 7">
              <a:extLst>
                <a:ext uri="{FF2B5EF4-FFF2-40B4-BE49-F238E27FC236}">
                  <a16:creationId xmlns:a16="http://schemas.microsoft.com/office/drawing/2014/main" id="{9DD783B1-B351-7F38-FF55-0F8B22BE1A7A}"/>
                </a:ext>
              </a:extLst>
            </p:cNvPr>
            <p:cNvSpPr txBox="1"/>
            <p:nvPr/>
          </p:nvSpPr>
          <p:spPr>
            <a:xfrm>
              <a:off x="0" y="85725"/>
              <a:ext cx="87993" cy="3276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521252" y="8741649"/>
            <a:ext cx="9993853" cy="554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</a:pPr>
            <a:endParaRPr lang="en-US" sz="3800" spc="-311" dirty="0">
              <a:solidFill>
                <a:srgbClr val="F1F0EC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grpSp>
        <p:nvGrpSpPr>
          <p:cNvPr id="15" name="Group 10">
            <a:extLst>
              <a:ext uri="{FF2B5EF4-FFF2-40B4-BE49-F238E27FC236}">
                <a16:creationId xmlns:a16="http://schemas.microsoft.com/office/drawing/2014/main" id="{C7C97DBF-C940-182E-065D-1C4DF76EE5B0}"/>
              </a:ext>
            </a:extLst>
          </p:cNvPr>
          <p:cNvGrpSpPr/>
          <p:nvPr/>
        </p:nvGrpSpPr>
        <p:grpSpPr>
          <a:xfrm>
            <a:off x="1752599" y="170409"/>
            <a:ext cx="21049781" cy="3159164"/>
            <a:chOff x="-2000587" y="45418"/>
            <a:chExt cx="3103188" cy="1396725"/>
          </a:xfrm>
        </p:grpSpPr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D08CBC60-7AC1-E256-6918-1A6EBB536C3D}"/>
                </a:ext>
              </a:extLst>
            </p:cNvPr>
            <p:cNvSpPr/>
            <p:nvPr/>
          </p:nvSpPr>
          <p:spPr>
            <a:xfrm>
              <a:off x="-2000587" y="45418"/>
              <a:ext cx="1102601" cy="1396725"/>
            </a:xfrm>
            <a:custGeom>
              <a:avLst/>
              <a:gdLst/>
              <a:ahLst/>
              <a:cxnLst/>
              <a:rect l="l" t="t" r="r" b="b"/>
              <a:pathLst>
                <a:path w="1102601" h="1396725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17" name="TextBox 12">
              <a:extLst>
                <a:ext uri="{FF2B5EF4-FFF2-40B4-BE49-F238E27FC236}">
                  <a16:creationId xmlns:a16="http://schemas.microsoft.com/office/drawing/2014/main" id="{05502042-5679-6990-7DCB-2C2D62F5168F}"/>
                </a:ext>
              </a:extLst>
            </p:cNvPr>
            <p:cNvSpPr txBox="1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18" name="Group 13">
            <a:extLst>
              <a:ext uri="{FF2B5EF4-FFF2-40B4-BE49-F238E27FC236}">
                <a16:creationId xmlns:a16="http://schemas.microsoft.com/office/drawing/2014/main" id="{8477CAE1-4E0F-2F88-A337-BACE5876E178}"/>
              </a:ext>
            </a:extLst>
          </p:cNvPr>
          <p:cNvGrpSpPr/>
          <p:nvPr/>
        </p:nvGrpSpPr>
        <p:grpSpPr>
          <a:xfrm>
            <a:off x="1752599" y="3449554"/>
            <a:ext cx="7479247" cy="1026803"/>
            <a:chOff x="0" y="0"/>
            <a:chExt cx="1102601" cy="1396725"/>
          </a:xfrm>
        </p:grpSpPr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002AC2B7-7628-1758-3174-91B6912A1D4B}"/>
                </a:ext>
              </a:extLst>
            </p:cNvPr>
            <p:cNvSpPr/>
            <p:nvPr/>
          </p:nvSpPr>
          <p:spPr>
            <a:xfrm>
              <a:off x="0" y="0"/>
              <a:ext cx="1102601" cy="1396725"/>
            </a:xfrm>
            <a:custGeom>
              <a:avLst/>
              <a:gdLst/>
              <a:ahLst/>
              <a:cxnLst/>
              <a:rect l="l" t="t" r="r" b="b"/>
              <a:pathLst>
                <a:path w="1102601" h="1396725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20" name="TextBox 15">
              <a:extLst>
                <a:ext uri="{FF2B5EF4-FFF2-40B4-BE49-F238E27FC236}">
                  <a16:creationId xmlns:a16="http://schemas.microsoft.com/office/drawing/2014/main" id="{4F6C332F-8DD7-A056-D330-CA036AA2C8FA}"/>
                </a:ext>
              </a:extLst>
            </p:cNvPr>
            <p:cNvSpPr txBox="1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23" name="TextBox 19">
            <a:extLst>
              <a:ext uri="{FF2B5EF4-FFF2-40B4-BE49-F238E27FC236}">
                <a16:creationId xmlns:a16="http://schemas.microsoft.com/office/drawing/2014/main" id="{6291953F-5B7C-F9A4-F2B6-065E09C192F9}"/>
              </a:ext>
            </a:extLst>
          </p:cNvPr>
          <p:cNvSpPr txBox="1"/>
          <p:nvPr/>
        </p:nvSpPr>
        <p:spPr>
          <a:xfrm>
            <a:off x="2536733" y="1772597"/>
            <a:ext cx="633244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2000" b="1" dirty="0">
                <a:solidFill>
                  <a:schemeClr val="bg2"/>
                </a:solidFill>
                <a:latin typeface="Public Sans Medium" panose="020B0604020202020204" charset="0"/>
              </a:rPr>
              <a:t>Histogram of the returns and compare it to a normal curve with the same average and spread.</a:t>
            </a:r>
          </a:p>
        </p:txBody>
      </p:sp>
      <p:sp>
        <p:nvSpPr>
          <p:cNvPr id="24" name="TextBox 20">
            <a:extLst>
              <a:ext uri="{FF2B5EF4-FFF2-40B4-BE49-F238E27FC236}">
                <a16:creationId xmlns:a16="http://schemas.microsoft.com/office/drawing/2014/main" id="{8B749F18-AC67-189E-21D0-B7B558B90D1A}"/>
              </a:ext>
            </a:extLst>
          </p:cNvPr>
          <p:cNvSpPr txBox="1"/>
          <p:nvPr/>
        </p:nvSpPr>
        <p:spPr>
          <a:xfrm>
            <a:off x="2666678" y="513105"/>
            <a:ext cx="5881572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2000" b="1" dirty="0">
                <a:solidFill>
                  <a:schemeClr val="bg2"/>
                </a:solidFill>
                <a:latin typeface="Public Sans Medium" panose="020B0604020202020204" charset="0"/>
              </a:rPr>
              <a:t>If the dots sit neatly on the straight line, the data looks normal; where the dots drift away from the line — usually at the two ends — the data departs from normality</a:t>
            </a:r>
            <a:endParaRPr lang="en-US" sz="3600" b="1" spc="-266" dirty="0">
              <a:solidFill>
                <a:schemeClr val="bg2"/>
              </a:solidFill>
              <a:latin typeface="Public Sans Medium" panose="020B0604020202020204" charset="0"/>
              <a:ea typeface="Public Sans"/>
              <a:cs typeface="Public Sans"/>
              <a:sym typeface="Public Sans"/>
            </a:endParaRP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2B661512-10FD-8AC8-4446-16AD0FC62DB2}"/>
              </a:ext>
            </a:extLst>
          </p:cNvPr>
          <p:cNvSpPr txBox="1"/>
          <p:nvPr/>
        </p:nvSpPr>
        <p:spPr>
          <a:xfrm>
            <a:off x="2130493" y="3646638"/>
            <a:ext cx="6775370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2295"/>
              </a:lnSpc>
              <a:spcBef>
                <a:spcPct val="0"/>
              </a:spcBef>
            </a:pPr>
            <a:r>
              <a:rPr lang="en-IN" sz="2000" b="1" dirty="0">
                <a:solidFill>
                  <a:schemeClr val="bg2"/>
                </a:solidFill>
                <a:latin typeface="Public Sans Medium" panose="020B0604020202020204" charset="0"/>
              </a:rPr>
              <a:t>Single annualised figure (13.43%) as our main input, exactly as the model requires.</a:t>
            </a:r>
            <a:endParaRPr lang="en-US" sz="1600" b="1" u="none" spc="86" dirty="0">
              <a:solidFill>
                <a:schemeClr val="bg2"/>
              </a:solidFill>
              <a:latin typeface="Public Sans Medium" panose="020B0604020202020204" charset="0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26" name="TextBox 22">
            <a:extLst>
              <a:ext uri="{FF2B5EF4-FFF2-40B4-BE49-F238E27FC236}">
                <a16:creationId xmlns:a16="http://schemas.microsoft.com/office/drawing/2014/main" id="{E87A05B8-9BC1-BB23-EFA2-43E707121975}"/>
              </a:ext>
            </a:extLst>
          </p:cNvPr>
          <p:cNvSpPr txBox="1"/>
          <p:nvPr/>
        </p:nvSpPr>
        <p:spPr>
          <a:xfrm>
            <a:off x="13993814" y="4657434"/>
            <a:ext cx="2596765" cy="855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3250" spc="-266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Time to Expiry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980F3C9-CFCB-277D-3E99-C042CD5FEF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04273" y="5389166"/>
            <a:ext cx="8783728" cy="484212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3A27205-7296-7358-9BF0-A81F07437E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504273" y="2433"/>
            <a:ext cx="8783728" cy="5386734"/>
          </a:xfrm>
          <a:prstGeom prst="rect">
            <a:avLst/>
          </a:prstGeom>
        </p:spPr>
      </p:pic>
      <p:grpSp>
        <p:nvGrpSpPr>
          <p:cNvPr id="31" name="Group 5">
            <a:extLst>
              <a:ext uri="{FF2B5EF4-FFF2-40B4-BE49-F238E27FC236}">
                <a16:creationId xmlns:a16="http://schemas.microsoft.com/office/drawing/2014/main" id="{EB22D189-76CE-CF9C-84F8-F1625C15F932}"/>
              </a:ext>
            </a:extLst>
          </p:cNvPr>
          <p:cNvGrpSpPr/>
          <p:nvPr/>
        </p:nvGrpSpPr>
        <p:grpSpPr>
          <a:xfrm>
            <a:off x="9190098" y="-363571"/>
            <a:ext cx="314174" cy="12004159"/>
            <a:chOff x="0" y="0"/>
            <a:chExt cx="87993" cy="3362084"/>
          </a:xfrm>
        </p:grpSpPr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F20A921C-00C3-9638-88F4-2870218C1722}"/>
                </a:ext>
              </a:extLst>
            </p:cNvPr>
            <p:cNvSpPr/>
            <p:nvPr/>
          </p:nvSpPr>
          <p:spPr>
            <a:xfrm>
              <a:off x="0" y="0"/>
              <a:ext cx="87993" cy="3362084"/>
            </a:xfrm>
            <a:custGeom>
              <a:avLst/>
              <a:gdLst/>
              <a:ahLst/>
              <a:cxnLst/>
              <a:rect l="l" t="t" r="r" b="b"/>
              <a:pathLst>
                <a:path w="87993" h="3362084">
                  <a:moveTo>
                    <a:pt x="43996" y="0"/>
                  </a:moveTo>
                  <a:lnTo>
                    <a:pt x="43996" y="0"/>
                  </a:lnTo>
                  <a:cubicBezTo>
                    <a:pt x="68295" y="0"/>
                    <a:pt x="87993" y="19698"/>
                    <a:pt x="87993" y="43996"/>
                  </a:cubicBezTo>
                  <a:lnTo>
                    <a:pt x="87993" y="3318088"/>
                  </a:lnTo>
                  <a:cubicBezTo>
                    <a:pt x="87993" y="3342386"/>
                    <a:pt x="68295" y="3362084"/>
                    <a:pt x="43996" y="3362084"/>
                  </a:cubicBezTo>
                  <a:lnTo>
                    <a:pt x="43996" y="3362084"/>
                  </a:lnTo>
                  <a:cubicBezTo>
                    <a:pt x="19698" y="3362084"/>
                    <a:pt x="0" y="3342386"/>
                    <a:pt x="0" y="3318088"/>
                  </a:cubicBezTo>
                  <a:lnTo>
                    <a:pt x="0" y="43996"/>
                  </a:lnTo>
                  <a:cubicBezTo>
                    <a:pt x="0" y="19698"/>
                    <a:pt x="19698" y="0"/>
                    <a:pt x="43996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33" name="TextBox 7">
              <a:extLst>
                <a:ext uri="{FF2B5EF4-FFF2-40B4-BE49-F238E27FC236}">
                  <a16:creationId xmlns:a16="http://schemas.microsoft.com/office/drawing/2014/main" id="{D041649D-E5C5-B027-0DB0-5FF81E8D494D}"/>
                </a:ext>
              </a:extLst>
            </p:cNvPr>
            <p:cNvSpPr txBox="1"/>
            <p:nvPr/>
          </p:nvSpPr>
          <p:spPr>
            <a:xfrm>
              <a:off x="0" y="85725"/>
              <a:ext cx="87993" cy="3276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1BDAE8EB-E52C-1CEC-94AF-81A7E1CAF6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32557"/>
            <a:ext cx="9190099" cy="5615419"/>
          </a:xfrm>
          <a:prstGeom prst="rect">
            <a:avLst/>
          </a:prstGeom>
        </p:spPr>
      </p:pic>
      <p:grpSp>
        <p:nvGrpSpPr>
          <p:cNvPr id="39" name="Group 5">
            <a:extLst>
              <a:ext uri="{FF2B5EF4-FFF2-40B4-BE49-F238E27FC236}">
                <a16:creationId xmlns:a16="http://schemas.microsoft.com/office/drawing/2014/main" id="{3BF2FC1D-DF99-2693-077F-AA4655F4FB5D}"/>
              </a:ext>
            </a:extLst>
          </p:cNvPr>
          <p:cNvGrpSpPr/>
          <p:nvPr/>
        </p:nvGrpSpPr>
        <p:grpSpPr>
          <a:xfrm rot="5400000">
            <a:off x="3188019" y="-1420062"/>
            <a:ext cx="314174" cy="12004159"/>
            <a:chOff x="0" y="0"/>
            <a:chExt cx="87993" cy="3362084"/>
          </a:xfrm>
        </p:grpSpPr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81773770-0B15-B04F-7F8E-431DDB268B8E}"/>
                </a:ext>
              </a:extLst>
            </p:cNvPr>
            <p:cNvSpPr/>
            <p:nvPr/>
          </p:nvSpPr>
          <p:spPr>
            <a:xfrm>
              <a:off x="0" y="0"/>
              <a:ext cx="87993" cy="3362084"/>
            </a:xfrm>
            <a:custGeom>
              <a:avLst/>
              <a:gdLst/>
              <a:ahLst/>
              <a:cxnLst/>
              <a:rect l="l" t="t" r="r" b="b"/>
              <a:pathLst>
                <a:path w="87993" h="3362084">
                  <a:moveTo>
                    <a:pt x="43996" y="0"/>
                  </a:moveTo>
                  <a:lnTo>
                    <a:pt x="43996" y="0"/>
                  </a:lnTo>
                  <a:cubicBezTo>
                    <a:pt x="68295" y="0"/>
                    <a:pt x="87993" y="19698"/>
                    <a:pt x="87993" y="43996"/>
                  </a:cubicBezTo>
                  <a:lnTo>
                    <a:pt x="87993" y="3318088"/>
                  </a:lnTo>
                  <a:cubicBezTo>
                    <a:pt x="87993" y="3342386"/>
                    <a:pt x="68295" y="3362084"/>
                    <a:pt x="43996" y="3362084"/>
                  </a:cubicBezTo>
                  <a:lnTo>
                    <a:pt x="43996" y="3362084"/>
                  </a:lnTo>
                  <a:cubicBezTo>
                    <a:pt x="19698" y="3362084"/>
                    <a:pt x="0" y="3342386"/>
                    <a:pt x="0" y="3318088"/>
                  </a:cubicBezTo>
                  <a:lnTo>
                    <a:pt x="0" y="43996"/>
                  </a:lnTo>
                  <a:cubicBezTo>
                    <a:pt x="0" y="19698"/>
                    <a:pt x="19698" y="0"/>
                    <a:pt x="43996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41" name="TextBox 7">
              <a:extLst>
                <a:ext uri="{FF2B5EF4-FFF2-40B4-BE49-F238E27FC236}">
                  <a16:creationId xmlns:a16="http://schemas.microsoft.com/office/drawing/2014/main" id="{A08E62AA-AFF6-D01A-4F3E-8399B22D8D14}"/>
                </a:ext>
              </a:extLst>
            </p:cNvPr>
            <p:cNvSpPr txBox="1"/>
            <p:nvPr/>
          </p:nvSpPr>
          <p:spPr>
            <a:xfrm>
              <a:off x="0" y="85725"/>
              <a:ext cx="87993" cy="3276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4F81605-7E1B-E9FF-DF2E-C9615E39DBA3}"/>
              </a:ext>
            </a:extLst>
          </p:cNvPr>
          <p:cNvSpPr txBox="1"/>
          <p:nvPr/>
        </p:nvSpPr>
        <p:spPr>
          <a:xfrm>
            <a:off x="2262800" y="2442981"/>
            <a:ext cx="63324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1F0EC"/>
                </a:solidFill>
                <a:latin typeface="Public Sans Medium" panose="020B0604020202020204" charset="0"/>
              </a:rPr>
              <a:t>N is 240 as we are considering market values before the option closing.</a:t>
            </a:r>
            <a:endParaRPr lang="en-IN" sz="2000" b="1" dirty="0">
              <a:solidFill>
                <a:srgbClr val="F1F0EC"/>
              </a:solidFill>
              <a:latin typeface="Public Sans Medium" panose="020B06040202020202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534400" y="709693"/>
            <a:ext cx="7519837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4400" b="1" spc="-311" dirty="0">
                <a:solidFill>
                  <a:srgbClr val="3A855D"/>
                </a:solidFill>
                <a:latin typeface="Cambria" panose="02040503050406030204" pitchFamily="18" charset="0"/>
                <a:ea typeface="Cambria" panose="02040503050406030204" pitchFamily="18" charset="0"/>
                <a:cs typeface="Public Sans"/>
                <a:sym typeface="Public Sans"/>
              </a:rPr>
              <a:t>The Black–Scholes Formula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247534" y="-858580"/>
            <a:ext cx="314174" cy="12004159"/>
            <a:chOff x="0" y="0"/>
            <a:chExt cx="87993" cy="33620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7993" cy="3362084"/>
            </a:xfrm>
            <a:custGeom>
              <a:avLst/>
              <a:gdLst/>
              <a:ahLst/>
              <a:cxnLst/>
              <a:rect l="l" t="t" r="r" b="b"/>
              <a:pathLst>
                <a:path w="87993" h="3362084">
                  <a:moveTo>
                    <a:pt x="43996" y="0"/>
                  </a:moveTo>
                  <a:lnTo>
                    <a:pt x="43996" y="0"/>
                  </a:lnTo>
                  <a:cubicBezTo>
                    <a:pt x="68295" y="0"/>
                    <a:pt x="87993" y="19698"/>
                    <a:pt x="87993" y="43996"/>
                  </a:cubicBezTo>
                  <a:lnTo>
                    <a:pt x="87993" y="3318088"/>
                  </a:lnTo>
                  <a:cubicBezTo>
                    <a:pt x="87993" y="3342386"/>
                    <a:pt x="68295" y="3362084"/>
                    <a:pt x="43996" y="3362084"/>
                  </a:cubicBezTo>
                  <a:lnTo>
                    <a:pt x="43996" y="3362084"/>
                  </a:lnTo>
                  <a:cubicBezTo>
                    <a:pt x="19698" y="3362084"/>
                    <a:pt x="0" y="3342386"/>
                    <a:pt x="0" y="3318088"/>
                  </a:cubicBezTo>
                  <a:lnTo>
                    <a:pt x="0" y="43996"/>
                  </a:lnTo>
                  <a:cubicBezTo>
                    <a:pt x="0" y="19698"/>
                    <a:pt x="19698" y="0"/>
                    <a:pt x="43996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85725"/>
              <a:ext cx="87993" cy="3276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8D85B57-54AB-EB76-8B0B-91A33D6EF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25249"/>
              </p:ext>
            </p:extLst>
          </p:nvPr>
        </p:nvGraphicFramePr>
        <p:xfrm>
          <a:off x="8153400" y="1548619"/>
          <a:ext cx="9061450" cy="33801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41364">
                  <a:extLst>
                    <a:ext uri="{9D8B030D-6E8A-4147-A177-3AD203B41FA5}">
                      <a16:colId xmlns:a16="http://schemas.microsoft.com/office/drawing/2014/main" val="1799321887"/>
                    </a:ext>
                  </a:extLst>
                </a:gridCol>
                <a:gridCol w="872225">
                  <a:extLst>
                    <a:ext uri="{9D8B030D-6E8A-4147-A177-3AD203B41FA5}">
                      <a16:colId xmlns:a16="http://schemas.microsoft.com/office/drawing/2014/main" val="1996602316"/>
                    </a:ext>
                  </a:extLst>
                </a:gridCol>
                <a:gridCol w="2325934">
                  <a:extLst>
                    <a:ext uri="{9D8B030D-6E8A-4147-A177-3AD203B41FA5}">
                      <a16:colId xmlns:a16="http://schemas.microsoft.com/office/drawing/2014/main" val="1852951113"/>
                    </a:ext>
                  </a:extLst>
                </a:gridCol>
                <a:gridCol w="4021927">
                  <a:extLst>
                    <a:ext uri="{9D8B030D-6E8A-4147-A177-3AD203B41FA5}">
                      <a16:colId xmlns:a16="http://schemas.microsoft.com/office/drawing/2014/main" val="508499009"/>
                    </a:ext>
                  </a:extLst>
                </a:gridCol>
              </a:tblGrid>
              <a:tr h="448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Input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Symbol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Value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Where it comes from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/>
                </a:tc>
                <a:extLst>
                  <a:ext uri="{0D108BD9-81ED-4DB2-BD59-A6C34878D82A}">
                    <a16:rowId xmlns:a16="http://schemas.microsoft.com/office/drawing/2014/main" val="819657682"/>
                  </a:ext>
                </a:extLst>
              </a:tr>
              <a:tr h="407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Spot price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₹24,080.40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Actual option data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059433069"/>
                  </a:ext>
                </a:extLst>
              </a:tr>
              <a:tr h="407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Strike price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K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₹24,100.00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Actual option data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838319624"/>
                  </a:ext>
                </a:extLst>
              </a:tr>
              <a:tr h="407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Volatility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σ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≈13.43%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Estimated from NIFTY returns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997247460"/>
                  </a:ext>
                </a:extLst>
              </a:tr>
              <a:tr h="651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Risk-free rate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r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6.5%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Assumed — a reasonable illustrative rate; the data has no risk-free rate of its own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867907863"/>
                  </a:ext>
                </a:extLst>
              </a:tr>
              <a:tr h="407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Dividend yield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q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0%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Assumed, as a simplification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744122549"/>
                  </a:ext>
                </a:extLst>
              </a:tr>
              <a:tr h="407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Time to expiry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57 days ≈ 0.15616 years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Calculated from the option date and expiry date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7797408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75EAA0B-4CD3-B923-0119-38D88EB16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866723"/>
              </p:ext>
            </p:extLst>
          </p:nvPr>
        </p:nvGraphicFramePr>
        <p:xfrm>
          <a:off x="8153400" y="5358232"/>
          <a:ext cx="9061450" cy="1905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30725">
                  <a:extLst>
                    <a:ext uri="{9D8B030D-6E8A-4147-A177-3AD203B41FA5}">
                      <a16:colId xmlns:a16="http://schemas.microsoft.com/office/drawing/2014/main" val="3300586743"/>
                    </a:ext>
                  </a:extLst>
                </a:gridCol>
                <a:gridCol w="4530725">
                  <a:extLst>
                    <a:ext uri="{9D8B030D-6E8A-4147-A177-3AD203B41FA5}">
                      <a16:colId xmlns:a16="http://schemas.microsoft.com/office/drawing/2014/main" val="4125609109"/>
                    </a:ext>
                  </a:extLst>
                </a:gridCol>
              </a:tblGrid>
              <a:tr h="3810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Quantity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Value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/>
                </a:tc>
                <a:extLst>
                  <a:ext uri="{0D108BD9-81ED-4DB2-BD59-A6C34878D82A}">
                    <a16:rowId xmlns:a16="http://schemas.microsoft.com/office/drawing/2014/main" val="1980129594"/>
                  </a:ext>
                </a:extLst>
              </a:tr>
              <a:tr h="346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d1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0.2025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491410160"/>
                  </a:ext>
                </a:extLst>
              </a:tr>
              <a:tr h="346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d2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0.1494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539046751"/>
                  </a:ext>
                </a:extLst>
              </a:tr>
              <a:tr h="346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N(d1)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0.5802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08330724"/>
                  </a:ext>
                </a:extLst>
              </a:tr>
              <a:tr h="346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N(d2)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0.5594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78886338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0392C4E-9D47-7BC8-D02D-3B7961FB2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618149"/>
              </p:ext>
            </p:extLst>
          </p:nvPr>
        </p:nvGraphicFramePr>
        <p:xfrm>
          <a:off x="8153400" y="7692696"/>
          <a:ext cx="9027404" cy="2179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13702">
                  <a:extLst>
                    <a:ext uri="{9D8B030D-6E8A-4147-A177-3AD203B41FA5}">
                      <a16:colId xmlns:a16="http://schemas.microsoft.com/office/drawing/2014/main" val="3274622878"/>
                    </a:ext>
                  </a:extLst>
                </a:gridCol>
                <a:gridCol w="4513702">
                  <a:extLst>
                    <a:ext uri="{9D8B030D-6E8A-4147-A177-3AD203B41FA5}">
                      <a16:colId xmlns:a16="http://schemas.microsoft.com/office/drawing/2014/main" val="2915994133"/>
                    </a:ext>
                  </a:extLst>
                </a:gridCol>
              </a:tblGrid>
              <a:tr h="354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Step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Value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/>
                </a:tc>
                <a:extLst>
                  <a:ext uri="{0D108BD9-81ED-4DB2-BD59-A6C34878D82A}">
                    <a16:rowId xmlns:a16="http://schemas.microsoft.com/office/drawing/2014/main" val="2607418455"/>
                  </a:ext>
                </a:extLst>
              </a:tr>
              <a:tr h="321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S × N(d1)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₹13,972.06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47463557"/>
                  </a:ext>
                </a:extLst>
              </a:tr>
              <a:tr h="321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Discount factor, e^(−</a:t>
                      </a:r>
                      <a:r>
                        <a:rPr lang="en-IN" sz="1800" dirty="0" err="1">
                          <a:effectLst/>
                        </a:rPr>
                        <a:t>rT</a:t>
                      </a:r>
                      <a:r>
                        <a:rPr lang="en-IN" sz="1800" dirty="0">
                          <a:effectLst/>
                        </a:rPr>
                        <a:t>)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0.98990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799298596"/>
                  </a:ext>
                </a:extLst>
              </a:tr>
              <a:tr h="321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K × e^(−</a:t>
                      </a:r>
                      <a:r>
                        <a:rPr lang="en-IN" sz="1800" dirty="0" err="1">
                          <a:effectLst/>
                        </a:rPr>
                        <a:t>rT</a:t>
                      </a:r>
                      <a:r>
                        <a:rPr lang="en-IN" sz="1800" dirty="0">
                          <a:effectLst/>
                        </a:rPr>
                        <a:t>) × N(d2)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₹13,344.93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868191159"/>
                  </a:ext>
                </a:extLst>
              </a:tr>
              <a:tr h="321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Black–Scholes price, C = first term − second term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₹627.14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731515150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7E195F5A-7F35-825C-6E7F-9A0AE3FBE5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7247534" cy="6017280"/>
          </a:xfrm>
          <a:prstGeom prst="rect">
            <a:avLst/>
          </a:prstGeom>
        </p:spPr>
      </p:pic>
      <p:grpSp>
        <p:nvGrpSpPr>
          <p:cNvPr id="12" name="Group 5">
            <a:extLst>
              <a:ext uri="{FF2B5EF4-FFF2-40B4-BE49-F238E27FC236}">
                <a16:creationId xmlns:a16="http://schemas.microsoft.com/office/drawing/2014/main" id="{77D5DBB7-8CA3-CA00-F710-AB9A4020DA41}"/>
              </a:ext>
            </a:extLst>
          </p:cNvPr>
          <p:cNvGrpSpPr/>
          <p:nvPr/>
        </p:nvGrpSpPr>
        <p:grpSpPr>
          <a:xfrm>
            <a:off x="304800" y="6323357"/>
            <a:ext cx="7099821" cy="3691073"/>
            <a:chOff x="0" y="0"/>
            <a:chExt cx="1258694" cy="1098728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BC5BE34B-5A20-185D-6A99-2A82551E84F1}"/>
                </a:ext>
              </a:extLst>
            </p:cNvPr>
            <p:cNvSpPr/>
            <p:nvPr/>
          </p:nvSpPr>
          <p:spPr>
            <a:xfrm>
              <a:off x="0" y="0"/>
              <a:ext cx="1258694" cy="1098728"/>
            </a:xfrm>
            <a:custGeom>
              <a:avLst/>
              <a:gdLst/>
              <a:ahLst/>
              <a:cxnLst/>
              <a:rect l="l" t="t" r="r" b="b"/>
              <a:pathLst>
                <a:path w="1258694" h="1098728">
                  <a:moveTo>
                    <a:pt x="25840" y="0"/>
                  </a:moveTo>
                  <a:lnTo>
                    <a:pt x="1232854" y="0"/>
                  </a:lnTo>
                  <a:cubicBezTo>
                    <a:pt x="1239707" y="0"/>
                    <a:pt x="1246280" y="2722"/>
                    <a:pt x="1251126" y="7568"/>
                  </a:cubicBezTo>
                  <a:cubicBezTo>
                    <a:pt x="1255972" y="12414"/>
                    <a:pt x="1258694" y="18987"/>
                    <a:pt x="1258694" y="25840"/>
                  </a:cubicBezTo>
                  <a:lnTo>
                    <a:pt x="1258694" y="1072888"/>
                  </a:lnTo>
                  <a:cubicBezTo>
                    <a:pt x="1258694" y="1087159"/>
                    <a:pt x="1247125" y="1098728"/>
                    <a:pt x="1232854" y="1098728"/>
                  </a:cubicBezTo>
                  <a:lnTo>
                    <a:pt x="25840" y="1098728"/>
                  </a:lnTo>
                  <a:cubicBezTo>
                    <a:pt x="11569" y="1098728"/>
                    <a:pt x="0" y="1087159"/>
                    <a:pt x="0" y="1072888"/>
                  </a:cubicBezTo>
                  <a:lnTo>
                    <a:pt x="0" y="25840"/>
                  </a:lnTo>
                  <a:cubicBezTo>
                    <a:pt x="0" y="11569"/>
                    <a:pt x="11569" y="0"/>
                    <a:pt x="25840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14" name="TextBox 7">
              <a:extLst>
                <a:ext uri="{FF2B5EF4-FFF2-40B4-BE49-F238E27FC236}">
                  <a16:creationId xmlns:a16="http://schemas.microsoft.com/office/drawing/2014/main" id="{9C62C9BD-8036-57DC-C4B5-C09B3E8FF643}"/>
                </a:ext>
              </a:extLst>
            </p:cNvPr>
            <p:cNvSpPr txBox="1"/>
            <p:nvPr/>
          </p:nvSpPr>
          <p:spPr>
            <a:xfrm>
              <a:off x="0" y="85725"/>
              <a:ext cx="1258694" cy="1013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AFE7076-5AD4-35F4-6A36-5A64A749D17D}"/>
              </a:ext>
            </a:extLst>
          </p:cNvPr>
          <p:cNvSpPr txBox="1"/>
          <p:nvPr/>
        </p:nvSpPr>
        <p:spPr>
          <a:xfrm>
            <a:off x="447260" y="6765976"/>
            <a:ext cx="7114448" cy="2805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Public Sans Medium" panose="020B0604020202020204" charset="0"/>
                <a:ea typeface="Cambria" panose="02040503050406030204" pitchFamily="18" charset="0"/>
              </a:rPr>
              <a:t>The Black–Scholes estimate is approximately 15.49%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Public Sans Medium" panose="020B0604020202020204" charset="0"/>
                <a:ea typeface="Cambria" panose="02040503050406030204" pitchFamily="18" charset="0"/>
              </a:rPr>
              <a:t> higher than the observed market price.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Public Sans Medium" panose="020B0604020202020204" charset="0"/>
                <a:ea typeface="Cambria" panose="02040503050406030204" pitchFamily="18" charset="0"/>
              </a:rPr>
              <a:t>This difference does not necessarily imply that the model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Public Sans Medium" panose="020B0604020202020204" charset="0"/>
                <a:ea typeface="Cambria" panose="02040503050406030204" pitchFamily="18" charset="0"/>
              </a:rPr>
              <a:t>or market is incorrect. It may reflect differences in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Public Sans Medium" panose="020B0604020202020204" charset="0"/>
                <a:ea typeface="Cambria" panose="02040503050406030204" pitchFamily="18" charset="0"/>
              </a:rPr>
              <a:t>volatility assumptions, dividends, transaction costs,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Public Sans Medium" panose="020B0604020202020204" charset="0"/>
                <a:ea typeface="Cambria" panose="02040503050406030204" pitchFamily="18" charset="0"/>
              </a:rPr>
              <a:t>liquidity, risk premiums and other real-market effects.</a:t>
            </a:r>
            <a:endParaRPr lang="en-IN" sz="2000" b="1" dirty="0">
              <a:solidFill>
                <a:schemeClr val="bg2"/>
              </a:solidFill>
              <a:latin typeface="Public Sans Medium" panose="020B0604020202020204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33924" y="6971250"/>
            <a:ext cx="21755848" cy="4174349"/>
            <a:chOff x="0" y="0"/>
            <a:chExt cx="7796805" cy="14959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96805" cy="1495993"/>
            </a:xfrm>
            <a:custGeom>
              <a:avLst/>
              <a:gdLst/>
              <a:ahLst/>
              <a:cxnLst/>
              <a:rect l="l" t="t" r="r" b="b"/>
              <a:pathLst>
                <a:path w="7796805" h="1495993">
                  <a:moveTo>
                    <a:pt x="0" y="0"/>
                  </a:moveTo>
                  <a:lnTo>
                    <a:pt x="7796805" y="0"/>
                  </a:lnTo>
                  <a:lnTo>
                    <a:pt x="7796805" y="1495993"/>
                  </a:lnTo>
                  <a:lnTo>
                    <a:pt x="0" y="1495993"/>
                  </a:ln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796805" cy="1524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908245" y="5376693"/>
            <a:ext cx="20104489" cy="5523017"/>
          </a:xfrm>
          <a:custGeom>
            <a:avLst/>
            <a:gdLst/>
            <a:ahLst/>
            <a:cxnLst/>
            <a:rect l="l" t="t" r="r" b="b"/>
            <a:pathLst>
              <a:path w="20104489" h="5523017">
                <a:moveTo>
                  <a:pt x="0" y="0"/>
                </a:moveTo>
                <a:lnTo>
                  <a:pt x="20104490" y="0"/>
                </a:lnTo>
                <a:lnTo>
                  <a:pt x="20104490" y="5523017"/>
                </a:lnTo>
                <a:lnTo>
                  <a:pt x="0" y="55230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4363" r="-9035" b="-20568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038600" y="3258854"/>
            <a:ext cx="11093721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5400" b="1" spc="-327" dirty="0">
                <a:solidFill>
                  <a:srgbClr val="3A855D"/>
                </a:solidFill>
                <a:latin typeface="Cambria" panose="02040503050406030204" pitchFamily="18" charset="0"/>
                <a:ea typeface="Cambria" panose="02040503050406030204" pitchFamily="18" charset="0"/>
                <a:cs typeface="Public Sans"/>
                <a:sym typeface="Public Sans"/>
              </a:rPr>
              <a:t>Thank You — Questions Welcome</a:t>
            </a:r>
          </a:p>
        </p:txBody>
      </p:sp>
      <p:sp>
        <p:nvSpPr>
          <p:cNvPr id="7" name="Freeform 7"/>
          <p:cNvSpPr/>
          <p:nvPr/>
        </p:nvSpPr>
        <p:spPr>
          <a:xfrm>
            <a:off x="16914402" y="3224371"/>
            <a:ext cx="1703043" cy="2771224"/>
          </a:xfrm>
          <a:custGeom>
            <a:avLst/>
            <a:gdLst/>
            <a:ahLst/>
            <a:cxnLst/>
            <a:rect l="l" t="t" r="r" b="b"/>
            <a:pathLst>
              <a:path w="1703043" h="2771224">
                <a:moveTo>
                  <a:pt x="0" y="0"/>
                </a:moveTo>
                <a:lnTo>
                  <a:pt x="1703043" y="0"/>
                </a:lnTo>
                <a:lnTo>
                  <a:pt x="1703043" y="2771224"/>
                </a:lnTo>
                <a:lnTo>
                  <a:pt x="0" y="2771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7392287">
            <a:off x="-1104276" y="-395603"/>
            <a:ext cx="3383874" cy="2848607"/>
          </a:xfrm>
          <a:custGeom>
            <a:avLst/>
            <a:gdLst/>
            <a:ahLst/>
            <a:cxnLst/>
            <a:rect l="l" t="t" r="r" b="b"/>
            <a:pathLst>
              <a:path w="3383874" h="2848607">
                <a:moveTo>
                  <a:pt x="0" y="0"/>
                </a:moveTo>
                <a:lnTo>
                  <a:pt x="3383875" y="0"/>
                </a:lnTo>
                <a:lnTo>
                  <a:pt x="3383875" y="2848606"/>
                </a:lnTo>
                <a:lnTo>
                  <a:pt x="0" y="28486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18">
            <a:extLst>
              <a:ext uri="{FF2B5EF4-FFF2-40B4-BE49-F238E27FC236}">
                <a16:creationId xmlns:a16="http://schemas.microsoft.com/office/drawing/2014/main" id="{E1091B26-464C-31A8-6DC7-F21BB2DBCC1D}"/>
              </a:ext>
            </a:extLst>
          </p:cNvPr>
          <p:cNvSpPr/>
          <p:nvPr/>
        </p:nvSpPr>
        <p:spPr>
          <a:xfrm>
            <a:off x="3460147" y="2820733"/>
            <a:ext cx="1352836" cy="1444777"/>
          </a:xfrm>
          <a:custGeom>
            <a:avLst/>
            <a:gdLst/>
            <a:ahLst/>
            <a:cxnLst/>
            <a:rect l="l" t="t" r="r" b="b"/>
            <a:pathLst>
              <a:path w="1352836" h="1444777">
                <a:moveTo>
                  <a:pt x="0" y="0"/>
                </a:moveTo>
                <a:lnTo>
                  <a:pt x="1352836" y="0"/>
                </a:lnTo>
                <a:lnTo>
                  <a:pt x="1352836" y="1444777"/>
                </a:lnTo>
                <a:lnTo>
                  <a:pt x="0" y="14447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1788</Words>
  <Application>Microsoft Office PowerPoint</Application>
  <PresentationFormat>Custom</PresentationFormat>
  <Paragraphs>228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Times New Roman</vt:lpstr>
      <vt:lpstr>DM Serif Display</vt:lpstr>
      <vt:lpstr>Georgia</vt:lpstr>
      <vt:lpstr>Cambria Math</vt:lpstr>
      <vt:lpstr>Public Sans Medium</vt:lpstr>
      <vt:lpstr>Public Sans</vt:lpstr>
      <vt:lpstr>Arial</vt:lpstr>
      <vt:lpstr>Calibri</vt:lpstr>
      <vt:lpstr>Cambria</vt:lpstr>
      <vt:lpstr>Bookman Old Style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Retro Markets and Finance Presentation</dc:title>
  <dc:creator>Julie Chaurasia</dc:creator>
  <cp:lastModifiedBy>Julie Chaurasia</cp:lastModifiedBy>
  <cp:revision>8</cp:revision>
  <dcterms:created xsi:type="dcterms:W3CDTF">2006-08-16T00:00:00Z</dcterms:created>
  <dcterms:modified xsi:type="dcterms:W3CDTF">2026-09-11T08:18:24Z</dcterms:modified>
  <dc:identifier>DAHUlgOwo4M</dc:identifier>
</cp:coreProperties>
</file>